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7562088" cy="10689336"/>
  <p:notesSz cx="10689336" cy="756208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46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74920" y="-1417320"/>
            <a:ext cx="3291840" cy="3291840"/>
          </a:xfrm>
          <a:prstGeom prst="ellipse">
            <a:avLst/>
          </a:prstGeom>
          <a:solidFill>
            <a:srgbClr val="C2603C"/>
          </a:solidFill>
          <a:ln/>
        </p:spPr>
      </p:sp>
      <p:sp>
        <p:nvSpPr>
          <p:cNvPr id="3" name="Shape 1"/>
          <p:cNvSpPr/>
          <p:nvPr/>
        </p:nvSpPr>
        <p:spPr>
          <a:xfrm>
            <a:off x="4160520" y="-411480"/>
            <a:ext cx="2194560" cy="2194560"/>
          </a:xfrm>
          <a:prstGeom prst="ellipse">
            <a:avLst/>
          </a:prstGeom>
          <a:ln w="31750">
            <a:solidFill>
              <a:srgbClr val="93AE8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172200" y="2057400"/>
            <a:ext cx="777240" cy="777240"/>
          </a:xfrm>
          <a:prstGeom prst="ellipse">
            <a:avLst/>
          </a:prstGeom>
          <a:solidFill>
            <a:srgbClr val="E2A63B"/>
          </a:solidFill>
          <a:ln/>
        </p:spPr>
      </p:sp>
      <p:sp>
        <p:nvSpPr>
          <p:cNvPr id="5" name="Shape 3"/>
          <p:cNvSpPr/>
          <p:nvPr/>
        </p:nvSpPr>
        <p:spPr>
          <a:xfrm>
            <a:off x="6903720" y="1508760"/>
            <a:ext cx="347472" cy="347472"/>
          </a:xfrm>
          <a:prstGeom prst="ellipse">
            <a:avLst/>
          </a:prstGeom>
          <a:solidFill>
            <a:srgbClr val="93AE86"/>
          </a:solidFill>
          <a:ln/>
        </p:spPr>
      </p:sp>
      <p:pic>
        <p:nvPicPr>
          <p:cNvPr id="6" name="Image 0" descr="So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685800"/>
            <a:ext cx="1234440" cy="48682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85800" y="1325880"/>
            <a:ext cx="621792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6000" b="1" dirty="0">
                <a:solidFill>
                  <a:srgbClr val="FBF7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RODA DE</a:t>
            </a:r>
            <a:endParaRPr lang="en-US" sz="600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6000" b="1" dirty="0">
                <a:solidFill>
                  <a:srgbClr val="FBF7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CONVERSA</a:t>
            </a:r>
            <a:endParaRPr lang="en-US" sz="60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329184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E2A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EDUCAÇÃO PROFISSIONAL E TECNOLÓGICA NO CENTRO DE ATENDIMENTO SOCIOEDUCATIVO.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425196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FBF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Marilúcia Tamanini Schauffert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DCE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Profa. Gislene Miotto Catolino Raymundo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228600" y="5257800"/>
            <a:ext cx="7132320" cy="7132320"/>
          </a:xfrm>
          <a:prstGeom prst="ellipse">
            <a:avLst/>
          </a:prstGeom>
          <a:solidFill>
            <a:srgbClr val="F8F4EB"/>
          </a:solidFill>
          <a:ln/>
        </p:spPr>
      </p:sp>
      <p:sp>
        <p:nvSpPr>
          <p:cNvPr id="11" name="Shape 8"/>
          <p:cNvSpPr/>
          <p:nvPr/>
        </p:nvSpPr>
        <p:spPr>
          <a:xfrm>
            <a:off x="45720" y="5074920"/>
            <a:ext cx="7498080" cy="7498080"/>
          </a:xfrm>
          <a:prstGeom prst="ellipse">
            <a:avLst/>
          </a:prstGeom>
          <a:ln w="19050">
            <a:solidFill>
              <a:srgbClr val="E2A63B"/>
            </a:solidFill>
            <a:prstDash val="solid"/>
          </a:ln>
        </p:spPr>
      </p:sp>
      <p:pic>
        <p:nvPicPr>
          <p:cNvPr id="12" name="Image 1" descr="Ilustração de jovens e educadoras sentados em roda de convers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5440680"/>
            <a:ext cx="6035040" cy="402336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0" y="9646920"/>
            <a:ext cx="7562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1E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Florianópolis, outubro de 2026.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4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tipo ProfEP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685800"/>
            <a:ext cx="1152144" cy="92354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2103120" y="713232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"/>
              </a:spcAft>
              <a:buNone/>
            </a:pPr>
            <a:r>
              <a:rPr lang="en-US" sz="1000" b="1" spc="50" kern="0" dirty="0">
                <a:solidFill>
                  <a:srgbClr val="1E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INSTITUTO FEDERAL DE SANTA CATARINA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b="1" spc="50" kern="0" dirty="0">
                <a:solidFill>
                  <a:srgbClr val="1E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CÂMPUS FLORIANÓPOLIS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b="1" spc="50" kern="0" dirty="0">
                <a:solidFill>
                  <a:srgbClr val="1E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 DE PÓS-GRADUAÇÃO EM EDUCAÇÃO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b="1" spc="50" kern="0" dirty="0">
                <a:solidFill>
                  <a:srgbClr val="1E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PROFISSIONAL E TECNOLÓGICA EM REDE NACIONAL</a:t>
            </a:r>
            <a:endParaRPr lang="en-US" sz="1000" dirty="0"/>
          </a:p>
        </p:txBody>
      </p:sp>
      <p:sp>
        <p:nvSpPr>
          <p:cNvPr id="4" name="Shape 1"/>
          <p:cNvSpPr/>
          <p:nvPr/>
        </p:nvSpPr>
        <p:spPr>
          <a:xfrm>
            <a:off x="4114800" y="2697480"/>
            <a:ext cx="3291840" cy="3291840"/>
          </a:xfrm>
          <a:prstGeom prst="ellipse">
            <a:avLst/>
          </a:prstGeom>
          <a:solidFill>
            <a:srgbClr val="DCE6D2"/>
          </a:solidFill>
          <a:ln/>
        </p:spPr>
      </p:sp>
      <p:sp>
        <p:nvSpPr>
          <p:cNvPr id="5" name="Shape 2"/>
          <p:cNvSpPr/>
          <p:nvPr/>
        </p:nvSpPr>
        <p:spPr>
          <a:xfrm>
            <a:off x="5568696" y="2734056"/>
            <a:ext cx="384048" cy="384048"/>
          </a:xfrm>
          <a:prstGeom prst="ellipse">
            <a:avLst/>
          </a:prstGeom>
          <a:solidFill>
            <a:srgbClr val="C2603C"/>
          </a:solidFill>
          <a:ln/>
        </p:spPr>
      </p:sp>
      <p:sp>
        <p:nvSpPr>
          <p:cNvPr id="6" name="Shape 3"/>
          <p:cNvSpPr/>
          <p:nvPr/>
        </p:nvSpPr>
        <p:spPr>
          <a:xfrm>
            <a:off x="6570893" y="3149179"/>
            <a:ext cx="384048" cy="384048"/>
          </a:xfrm>
          <a:prstGeom prst="ellipse">
            <a:avLst/>
          </a:prstGeom>
          <a:solidFill>
            <a:srgbClr val="E2A63B"/>
          </a:solidFill>
          <a:ln/>
        </p:spPr>
      </p:sp>
      <p:sp>
        <p:nvSpPr>
          <p:cNvPr id="7" name="Shape 4"/>
          <p:cNvSpPr/>
          <p:nvPr/>
        </p:nvSpPr>
        <p:spPr>
          <a:xfrm>
            <a:off x="6986016" y="4151376"/>
            <a:ext cx="384048" cy="384048"/>
          </a:xfrm>
          <a:prstGeom prst="ellipse">
            <a:avLst/>
          </a:prstGeom>
          <a:solidFill>
            <a:srgbClr val="1E4634"/>
          </a:solidFill>
          <a:ln/>
        </p:spPr>
      </p:sp>
      <p:sp>
        <p:nvSpPr>
          <p:cNvPr id="8" name="Shape 5"/>
          <p:cNvSpPr/>
          <p:nvPr/>
        </p:nvSpPr>
        <p:spPr>
          <a:xfrm>
            <a:off x="6570893" y="5153573"/>
            <a:ext cx="384048" cy="384048"/>
          </a:xfrm>
          <a:prstGeom prst="ellipse">
            <a:avLst/>
          </a:prstGeom>
          <a:solidFill>
            <a:srgbClr val="93AE86"/>
          </a:solidFill>
          <a:ln/>
        </p:spPr>
      </p:sp>
      <p:sp>
        <p:nvSpPr>
          <p:cNvPr id="9" name="Shape 6"/>
          <p:cNvSpPr/>
          <p:nvPr/>
        </p:nvSpPr>
        <p:spPr>
          <a:xfrm>
            <a:off x="5568696" y="5568696"/>
            <a:ext cx="384048" cy="384048"/>
          </a:xfrm>
          <a:prstGeom prst="ellipse">
            <a:avLst/>
          </a:prstGeom>
          <a:solidFill>
            <a:srgbClr val="C2603C"/>
          </a:solidFill>
          <a:ln/>
        </p:spPr>
      </p:sp>
      <p:sp>
        <p:nvSpPr>
          <p:cNvPr id="10" name="Shape 7"/>
          <p:cNvSpPr/>
          <p:nvPr/>
        </p:nvSpPr>
        <p:spPr>
          <a:xfrm>
            <a:off x="4566499" y="5153573"/>
            <a:ext cx="384048" cy="384048"/>
          </a:xfrm>
          <a:prstGeom prst="ellipse">
            <a:avLst/>
          </a:prstGeom>
          <a:solidFill>
            <a:srgbClr val="2F5D46"/>
          </a:solidFill>
          <a:ln/>
        </p:spPr>
      </p:sp>
      <p:sp>
        <p:nvSpPr>
          <p:cNvPr id="11" name="Shape 8"/>
          <p:cNvSpPr/>
          <p:nvPr/>
        </p:nvSpPr>
        <p:spPr>
          <a:xfrm>
            <a:off x="4151376" y="4151376"/>
            <a:ext cx="384048" cy="384048"/>
          </a:xfrm>
          <a:prstGeom prst="ellipse">
            <a:avLst/>
          </a:prstGeom>
          <a:solidFill>
            <a:srgbClr val="E2A63B"/>
          </a:solidFill>
          <a:ln/>
        </p:spPr>
      </p:sp>
      <p:sp>
        <p:nvSpPr>
          <p:cNvPr id="12" name="Shape 9"/>
          <p:cNvSpPr/>
          <p:nvPr/>
        </p:nvSpPr>
        <p:spPr>
          <a:xfrm>
            <a:off x="4566499" y="3149179"/>
            <a:ext cx="384048" cy="384048"/>
          </a:xfrm>
          <a:prstGeom prst="ellipse">
            <a:avLst/>
          </a:prstGeom>
          <a:solidFill>
            <a:srgbClr val="93AE86"/>
          </a:solidFill>
          <a:ln/>
        </p:spPr>
      </p:sp>
      <p:pic>
        <p:nvPicPr>
          <p:cNvPr id="13" name="Image 1" descr="So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3749040"/>
            <a:ext cx="1371600" cy="540913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685800" y="35661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26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PRODUTO EDUCACIONAL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685800" y="3977640"/>
            <a:ext cx="4114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4200" b="1" dirty="0">
                <a:solidFill>
                  <a:srgbClr val="1E46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RODA DE</a:t>
            </a:r>
            <a:endParaRPr lang="en-US" sz="420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4200" b="1" dirty="0">
                <a:solidFill>
                  <a:srgbClr val="1E46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CONVERSA</a:t>
            </a:r>
            <a:endParaRPr lang="en-US" sz="4200" dirty="0"/>
          </a:p>
        </p:txBody>
      </p:sp>
      <p:pic>
        <p:nvPicPr>
          <p:cNvPr id="16" name="Image 2" descr="Ilustração de cadeiras dispostas em círculo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040" y="5989320"/>
            <a:ext cx="4754880" cy="316992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85800" y="9326880"/>
            <a:ext cx="61904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C26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CONTEÚDO/DIAGRAMAÇÃO: </a:t>
            </a:r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2A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Marilucia Tamanini Schauffert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C26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ORIENTAÇÃO: </a:t>
            </a:r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2A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Profa. Dra. Gislene Miotto Catolino Raymundo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C26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DESENHO: </a:t>
            </a:r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2A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canva.com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4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0" y="-1005840"/>
            <a:ext cx="2743200" cy="2743200"/>
          </a:xfrm>
          <a:prstGeom prst="ellipse">
            <a:avLst/>
          </a:prstGeom>
          <a:solidFill>
            <a:srgbClr val="F6E3BA"/>
          </a:solidFill>
          <a:ln/>
        </p:spPr>
      </p:sp>
      <p:pic>
        <p:nvPicPr>
          <p:cNvPr id="3" name="Image 0" descr="Folhage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29400" y="320040"/>
            <a:ext cx="548640" cy="19888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85800" y="7772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C26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MARILÚCIA TAMANINI SCHAUFFERT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685800" y="146304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spc="200" kern="0" dirty="0">
                <a:solidFill>
                  <a:srgbClr val="6E6A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PRODUTO EDUCACIONAL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3200" b="1" dirty="0">
                <a:solidFill>
                  <a:srgbClr val="1E46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RODA DE CONVERSA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3063240" y="2926080"/>
            <a:ext cx="3813048" cy="1600200"/>
          </a:xfrm>
          <a:prstGeom prst="roundRect">
            <a:avLst>
              <a:gd name="adj" fmla="val 6857"/>
            </a:avLst>
          </a:prstGeom>
          <a:solidFill>
            <a:srgbClr val="EFE6D3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3246120" y="3063240"/>
            <a:ext cx="3474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 indent="0" marL="0">
              <a:buNone/>
            </a:pPr>
            <a:r>
              <a:rPr lang="en-US" sz="1050" i="1" dirty="0">
                <a:solidFill>
                  <a:srgbClr val="2A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Produto apresentado ao Programa de Pós-Graduação em Educação Profissional e Tecnológica em Rede Nacional, do Instituto Federal de Santa Catarina, como requisito parcial para obtenção do Título de Mestre em Educação Profissional e Tecnológica.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4892040"/>
            <a:ext cx="6190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Validado e aprovado em 30 de outubro de 2026 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85800" y="5532120"/>
            <a:ext cx="6190488" cy="4114800"/>
          </a:xfrm>
          <a:prstGeom prst="roundRect">
            <a:avLst>
              <a:gd name="adj" fmla="val 3333"/>
            </a:avLst>
          </a:prstGeom>
          <a:solidFill>
            <a:srgbClr val="FBF7EE"/>
          </a:solidFill>
          <a:ln w="12700">
            <a:solidFill>
              <a:srgbClr val="93AE8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960120" y="5806440"/>
            <a:ext cx="457200" cy="457200"/>
          </a:xfrm>
          <a:prstGeom prst="ellipse">
            <a:avLst/>
          </a:prstGeom>
          <a:solidFill>
            <a:srgbClr val="1E4634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1554480" y="58064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1E46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BANCA AVALIADORA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1691640" y="7315200"/>
            <a:ext cx="4178808" cy="0"/>
          </a:xfrm>
          <a:prstGeom prst="line">
            <a:avLst/>
          </a:prstGeom>
          <a:noFill/>
          <a:ln w="9525">
            <a:solidFill>
              <a:srgbClr val="2A2A26"/>
            </a:solidFill>
            <a:prstDash val="sysDot"/>
          </a:ln>
        </p:spPr>
      </p:sp>
      <p:sp>
        <p:nvSpPr>
          <p:cNvPr id="13" name="Text 10"/>
          <p:cNvSpPr txBox="1"/>
          <p:nvPr/>
        </p:nvSpPr>
        <p:spPr>
          <a:xfrm>
            <a:off x="1691640" y="7388352"/>
            <a:ext cx="4178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A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Profª. Gislene Miotto Catolino Raymundo, Dra. - Orientadora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960120" y="8778240"/>
            <a:ext cx="2743200" cy="0"/>
          </a:xfrm>
          <a:prstGeom prst="line">
            <a:avLst/>
          </a:prstGeom>
          <a:noFill/>
          <a:ln w="9525">
            <a:solidFill>
              <a:srgbClr val="2A2A26"/>
            </a:solidFill>
            <a:prstDash val="sysDot"/>
          </a:ln>
        </p:spPr>
      </p:sp>
      <p:sp>
        <p:nvSpPr>
          <p:cNvPr id="15" name="Text 12"/>
          <p:cNvSpPr txBox="1"/>
          <p:nvPr/>
        </p:nvSpPr>
        <p:spPr>
          <a:xfrm>
            <a:off x="960120" y="885139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A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Profª. Neylen Bruggemann Bunn Junckes,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2A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Dra. - Membro Externo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3858768" y="8778240"/>
            <a:ext cx="2743200" cy="0"/>
          </a:xfrm>
          <a:prstGeom prst="line">
            <a:avLst/>
          </a:prstGeom>
          <a:noFill/>
          <a:ln w="9525">
            <a:solidFill>
              <a:srgbClr val="2A2A26"/>
            </a:solidFill>
            <a:prstDash val="sysDot"/>
          </a:ln>
        </p:spPr>
      </p:sp>
      <p:sp>
        <p:nvSpPr>
          <p:cNvPr id="17" name="Text 14"/>
          <p:cNvSpPr txBox="1"/>
          <p:nvPr/>
        </p:nvSpPr>
        <p:spPr>
          <a:xfrm>
            <a:off x="3858768" y="885139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A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Profº Olivier Allain, Dr. -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2A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Membro Interno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4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777240"/>
            <a:ext cx="61904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46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FICHA CATALOGRÁFICA</a:t>
            </a:r>
            <a:endParaRPr lang="en-US" sz="2600" dirty="0"/>
          </a:p>
        </p:txBody>
      </p:sp>
      <p:pic>
        <p:nvPicPr>
          <p:cNvPr id="3" name="Image 0" descr="Ilustração de cadernos, livros e lápi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5880" y="1828800"/>
            <a:ext cx="4937760" cy="329184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87552" y="6858000"/>
            <a:ext cx="557784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1E4634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261872" y="7086600"/>
            <a:ext cx="502920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2A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Schauffert, Marilucia Tamanini</a:t>
            </a:r>
            <a:endParaRPr lang="en-US" sz="900" dirty="0"/>
          </a:p>
          <a:p>
            <a:pPr indent="0" marL="0">
              <a:lnSpc>
                <a:spcPct val="105000"/>
              </a:lnSpc>
              <a:spcBef>
                <a:spcPts val="600"/>
              </a:spcBef>
              <a:buNone/>
            </a:pPr>
            <a:r>
              <a:rPr lang="en-US" sz="900" dirty="0">
                <a:solidFill>
                  <a:srgbClr val="2A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Roda de conversa: A Educação Profissional e Tecnológica e a medida socioeducativa de Internação. / Marilucia Tamanini Schauffert. - Florianópolis, 2026.</a:t>
            </a:r>
            <a:endParaRPr lang="en-US" sz="900" dirty="0"/>
          </a:p>
          <a:p>
            <a:pPr indent="0" marL="0">
              <a:lnSpc>
                <a:spcPct val="105000"/>
              </a:lnSpc>
              <a:spcBef>
                <a:spcPts val="600"/>
              </a:spcBef>
              <a:buNone/>
            </a:pPr>
            <a:r>
              <a:rPr lang="en-US" sz="900" dirty="0">
                <a:solidFill>
                  <a:srgbClr val="2A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 f. : il., color.</a:t>
            </a:r>
            <a:endParaRPr lang="en-US" sz="900" dirty="0"/>
          </a:p>
          <a:p>
            <a:pPr indent="0" marL="0">
              <a:lnSpc>
                <a:spcPct val="105000"/>
              </a:lnSpc>
              <a:spcBef>
                <a:spcPts val="600"/>
              </a:spcBef>
              <a:buNone/>
            </a:pPr>
            <a:r>
              <a:rPr lang="en-US" sz="900" dirty="0">
                <a:solidFill>
                  <a:srgbClr val="2A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Orientadora: Profa. Dra. Gislene Miotto Catolino Raymundo</a:t>
            </a:r>
            <a:endParaRPr lang="en-US" sz="900" dirty="0"/>
          </a:p>
          <a:p>
            <a:pPr indent="0" marL="0">
              <a:lnSpc>
                <a:spcPct val="105000"/>
              </a:lnSpc>
              <a:spcBef>
                <a:spcPts val="600"/>
              </a:spcBef>
              <a:buNone/>
            </a:pPr>
            <a:r>
              <a:rPr lang="en-US" sz="900" dirty="0">
                <a:solidFill>
                  <a:srgbClr val="2A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Produto Educacional (Mestrado Profissional) - Instituto Federal de Educação, Ciência e Tecnologia de Santa Catarina, Programa de Pós-Graduação em Educação Profissional e Tecnológica em Rede Nacional, Florianópolis, SC, 2026.</a:t>
            </a:r>
            <a:endParaRPr lang="en-US" sz="900" dirty="0"/>
          </a:p>
          <a:p>
            <a:pPr indent="0" marL="0">
              <a:lnSpc>
                <a:spcPct val="105000"/>
              </a:lnSpc>
              <a:spcBef>
                <a:spcPts val="600"/>
              </a:spcBef>
              <a:buNone/>
            </a:pPr>
            <a:r>
              <a:rPr lang="en-US" sz="900" dirty="0">
                <a:solidFill>
                  <a:srgbClr val="2A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1.Trabalho. 2. Educação profissional e tecnológica. 3. Direitos. 4. Roda de Conversa. 5. Case Regional de São José.</a:t>
            </a:r>
            <a:endParaRPr lang="en-US" sz="900" dirty="0"/>
          </a:p>
        </p:txBody>
      </p:sp>
      <p:pic>
        <p:nvPicPr>
          <p:cNvPr id="6" name="Image 1" descr="Folhagem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8778240"/>
            <a:ext cx="502920" cy="169211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46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1012240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DCE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PRODUTO EDUCACIONAL  ·  RODA DE CONVERSA</a:t>
            </a:r>
            <a:endParaRPr lang="en-US" sz="750" dirty="0"/>
          </a:p>
        </p:txBody>
      </p:sp>
      <p:sp>
        <p:nvSpPr>
          <p:cNvPr id="3" name="Shape 1"/>
          <p:cNvSpPr/>
          <p:nvPr/>
        </p:nvSpPr>
        <p:spPr>
          <a:xfrm>
            <a:off x="6492240" y="10049256"/>
            <a:ext cx="384048" cy="384048"/>
          </a:xfrm>
          <a:prstGeom prst="ellipse">
            <a:avLst/>
          </a:prstGeom>
          <a:solidFill>
            <a:srgbClr val="E2A63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92240" y="100492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46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846320" y="-1737360"/>
            <a:ext cx="3840480" cy="3840480"/>
          </a:xfrm>
          <a:prstGeom prst="ellipse">
            <a:avLst/>
          </a:prstGeom>
          <a:solidFill>
            <a:srgbClr val="2F5D46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0" y="1280160"/>
            <a:ext cx="822960" cy="822960"/>
          </a:xfrm>
          <a:prstGeom prst="ellipse">
            <a:avLst/>
          </a:prstGeom>
          <a:solidFill>
            <a:srgbClr val="C2603C"/>
          </a:solidFill>
          <a:ln/>
        </p:spPr>
      </p:sp>
      <p:sp>
        <p:nvSpPr>
          <p:cNvPr id="7" name="Shape 5"/>
          <p:cNvSpPr/>
          <p:nvPr/>
        </p:nvSpPr>
        <p:spPr>
          <a:xfrm>
            <a:off x="5989320" y="868680"/>
            <a:ext cx="1645920" cy="1645920"/>
          </a:xfrm>
          <a:prstGeom prst="ellipse">
            <a:avLst/>
          </a:prstGeom>
          <a:ln w="19050">
            <a:solidFill>
              <a:srgbClr val="E2A63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86868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spc="200" kern="0" dirty="0">
                <a:solidFill>
                  <a:srgbClr val="FBF7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SUMÁRIO</a:t>
            </a:r>
            <a:endParaRPr lang="en-US" sz="4400" dirty="0"/>
          </a:p>
        </p:txBody>
      </p:sp>
      <p:sp>
        <p:nvSpPr>
          <p:cNvPr id="9" name="Shape 7"/>
          <p:cNvSpPr/>
          <p:nvPr/>
        </p:nvSpPr>
        <p:spPr>
          <a:xfrm>
            <a:off x="685800" y="2148840"/>
            <a:ext cx="475488" cy="475488"/>
          </a:xfrm>
          <a:prstGeom prst="ellipse">
            <a:avLst/>
          </a:prstGeom>
          <a:solidFill>
            <a:srgbClr val="C2603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85800" y="21488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46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2148840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BF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Apresentação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1371600" y="2724912"/>
            <a:ext cx="4206240" cy="0"/>
          </a:xfrm>
          <a:prstGeom prst="line">
            <a:avLst/>
          </a:prstGeom>
          <a:noFill/>
          <a:ln w="9525">
            <a:solidFill>
              <a:srgbClr val="2F5D4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" y="2825496"/>
            <a:ext cx="475488" cy="475488"/>
          </a:xfrm>
          <a:prstGeom prst="ellipse">
            <a:avLst/>
          </a:prstGeom>
          <a:solidFill>
            <a:srgbClr val="E2A63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85800" y="282549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46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2825496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BF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Introdução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1371600" y="3401568"/>
            <a:ext cx="4206240" cy="0"/>
          </a:xfrm>
          <a:prstGeom prst="line">
            <a:avLst/>
          </a:prstGeom>
          <a:noFill/>
          <a:ln w="9525">
            <a:solidFill>
              <a:srgbClr val="2F5D4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5800" y="3502152"/>
            <a:ext cx="475488" cy="475488"/>
          </a:xfrm>
          <a:prstGeom prst="ellipse">
            <a:avLst/>
          </a:prstGeom>
          <a:solidFill>
            <a:srgbClr val="93AE8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85800" y="350215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46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371600" y="350215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BF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Roda de Conversa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1371600" y="4078224"/>
            <a:ext cx="4206240" cy="0"/>
          </a:xfrm>
          <a:prstGeom prst="line">
            <a:avLst/>
          </a:prstGeom>
          <a:noFill/>
          <a:ln w="9525">
            <a:solidFill>
              <a:srgbClr val="2F5D4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85800" y="4178808"/>
            <a:ext cx="475488" cy="475488"/>
          </a:xfrm>
          <a:prstGeom prst="ellipse">
            <a:avLst/>
          </a:prstGeom>
          <a:solidFill>
            <a:srgbClr val="C2603C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85800" y="41788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46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371600" y="4178808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BF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Guia Prático para Realizar uma Roda de Conversa</a:t>
            </a:r>
            <a:endParaRPr lang="en-US" sz="1450" dirty="0"/>
          </a:p>
        </p:txBody>
      </p:sp>
      <p:sp>
        <p:nvSpPr>
          <p:cNvPr id="24" name="Shape 22"/>
          <p:cNvSpPr/>
          <p:nvPr/>
        </p:nvSpPr>
        <p:spPr>
          <a:xfrm>
            <a:off x="1371600" y="4754880"/>
            <a:ext cx="4206240" cy="0"/>
          </a:xfrm>
          <a:prstGeom prst="line">
            <a:avLst/>
          </a:prstGeom>
          <a:noFill/>
          <a:ln w="9525">
            <a:solidFill>
              <a:srgbClr val="2F5D4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85800" y="4855464"/>
            <a:ext cx="475488" cy="475488"/>
          </a:xfrm>
          <a:prstGeom prst="ellipse">
            <a:avLst/>
          </a:prstGeom>
          <a:solidFill>
            <a:srgbClr val="E2A63B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85800" y="485546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46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1371600" y="4855464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BF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Produção de Dados</a:t>
            </a:r>
            <a:endParaRPr lang="en-US" sz="1450" dirty="0"/>
          </a:p>
        </p:txBody>
      </p:sp>
      <p:sp>
        <p:nvSpPr>
          <p:cNvPr id="28" name="Shape 26"/>
          <p:cNvSpPr/>
          <p:nvPr/>
        </p:nvSpPr>
        <p:spPr>
          <a:xfrm>
            <a:off x="1371600" y="5431536"/>
            <a:ext cx="4206240" cy="0"/>
          </a:xfrm>
          <a:prstGeom prst="line">
            <a:avLst/>
          </a:prstGeom>
          <a:noFill/>
          <a:ln w="9525">
            <a:solidFill>
              <a:srgbClr val="2F5D4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85800" y="5532120"/>
            <a:ext cx="475488" cy="475488"/>
          </a:xfrm>
          <a:prstGeom prst="ellipse">
            <a:avLst/>
          </a:prstGeom>
          <a:solidFill>
            <a:srgbClr val="93AE86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85800" y="55321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46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1371600" y="5532120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BF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Roda de Conversa</a:t>
            </a:r>
            <a:endParaRPr lang="en-US" sz="1450" dirty="0"/>
          </a:p>
        </p:txBody>
      </p:sp>
      <p:sp>
        <p:nvSpPr>
          <p:cNvPr id="32" name="Shape 30"/>
          <p:cNvSpPr/>
          <p:nvPr/>
        </p:nvSpPr>
        <p:spPr>
          <a:xfrm>
            <a:off x="1371600" y="6108192"/>
            <a:ext cx="4206240" cy="0"/>
          </a:xfrm>
          <a:prstGeom prst="line">
            <a:avLst/>
          </a:prstGeom>
          <a:noFill/>
          <a:ln w="9525">
            <a:solidFill>
              <a:srgbClr val="2F5D4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85800" y="6208776"/>
            <a:ext cx="475488" cy="475488"/>
          </a:xfrm>
          <a:prstGeom prst="ellipse">
            <a:avLst/>
          </a:prstGeom>
          <a:solidFill>
            <a:srgbClr val="C2603C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685800" y="620877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46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1371600" y="6208776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BF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Avaliação do Produto Educacional</a:t>
            </a:r>
            <a:endParaRPr lang="en-US" sz="1450" dirty="0"/>
          </a:p>
        </p:txBody>
      </p:sp>
      <p:sp>
        <p:nvSpPr>
          <p:cNvPr id="36" name="Shape 34"/>
          <p:cNvSpPr/>
          <p:nvPr/>
        </p:nvSpPr>
        <p:spPr>
          <a:xfrm>
            <a:off x="1371600" y="6784848"/>
            <a:ext cx="4206240" cy="0"/>
          </a:xfrm>
          <a:prstGeom prst="line">
            <a:avLst/>
          </a:prstGeom>
          <a:noFill/>
          <a:ln w="9525">
            <a:solidFill>
              <a:srgbClr val="2F5D4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85800" y="6885432"/>
            <a:ext cx="475488" cy="475488"/>
          </a:xfrm>
          <a:prstGeom prst="ellipse">
            <a:avLst/>
          </a:prstGeom>
          <a:solidFill>
            <a:srgbClr val="E2A63B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685800" y="68854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46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1300" dirty="0"/>
          </a:p>
        </p:txBody>
      </p:sp>
      <p:sp>
        <p:nvSpPr>
          <p:cNvPr id="39" name="Text 37"/>
          <p:cNvSpPr txBox="1"/>
          <p:nvPr/>
        </p:nvSpPr>
        <p:spPr>
          <a:xfrm>
            <a:off x="1371600" y="688543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BF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Considerações Finais</a:t>
            </a:r>
            <a:endParaRPr lang="en-US" sz="1450" dirty="0"/>
          </a:p>
        </p:txBody>
      </p:sp>
      <p:sp>
        <p:nvSpPr>
          <p:cNvPr id="40" name="Shape 38"/>
          <p:cNvSpPr/>
          <p:nvPr/>
        </p:nvSpPr>
        <p:spPr>
          <a:xfrm>
            <a:off x="1371600" y="7461504"/>
            <a:ext cx="4206240" cy="0"/>
          </a:xfrm>
          <a:prstGeom prst="line">
            <a:avLst/>
          </a:prstGeom>
          <a:noFill/>
          <a:ln w="9525">
            <a:solidFill>
              <a:srgbClr val="2F5D4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85800" y="7562088"/>
            <a:ext cx="475488" cy="475488"/>
          </a:xfrm>
          <a:prstGeom prst="ellipse">
            <a:avLst/>
          </a:prstGeom>
          <a:solidFill>
            <a:srgbClr val="93AE86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685800" y="75620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46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</a:t>
            </a:r>
            <a:endParaRPr lang="en-US" sz="1300" dirty="0"/>
          </a:p>
        </p:txBody>
      </p:sp>
      <p:sp>
        <p:nvSpPr>
          <p:cNvPr id="43" name="Text 41"/>
          <p:cNvSpPr txBox="1"/>
          <p:nvPr/>
        </p:nvSpPr>
        <p:spPr>
          <a:xfrm>
            <a:off x="1371600" y="7562088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BF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Referências</a:t>
            </a:r>
            <a:endParaRPr lang="en-US" sz="1450" dirty="0"/>
          </a:p>
        </p:txBody>
      </p:sp>
      <p:pic>
        <p:nvPicPr>
          <p:cNvPr id="44" name="Image 0" descr="Balões de fal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60520" y="7818120"/>
            <a:ext cx="301752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4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1012240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6E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PRODUTO EDUCACIONAL  ·  RODA DE CONVERSA</a:t>
            </a:r>
            <a:endParaRPr lang="en-US" sz="750" dirty="0"/>
          </a:p>
        </p:txBody>
      </p:sp>
      <p:sp>
        <p:nvSpPr>
          <p:cNvPr id="3" name="Shape 1"/>
          <p:cNvSpPr/>
          <p:nvPr/>
        </p:nvSpPr>
        <p:spPr>
          <a:xfrm>
            <a:off x="6492240" y="10049256"/>
            <a:ext cx="384048" cy="384048"/>
          </a:xfrm>
          <a:prstGeom prst="ellipse">
            <a:avLst/>
          </a:prstGeom>
          <a:solidFill>
            <a:srgbClr val="1E463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92240" y="100492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BF7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114800" y="-1463040"/>
            <a:ext cx="4572000" cy="4572000"/>
          </a:xfrm>
          <a:prstGeom prst="ellipse">
            <a:avLst/>
          </a:prstGeom>
          <a:solidFill>
            <a:srgbClr val="DCE6D2"/>
          </a:solidFill>
          <a:ln/>
        </p:spPr>
      </p:sp>
      <p:pic>
        <p:nvPicPr>
          <p:cNvPr id="6" name="Image 0" descr="Ilustração decorativ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94760" y="502920"/>
            <a:ext cx="3429000" cy="22860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85800" y="731520"/>
            <a:ext cx="566928" cy="566928"/>
          </a:xfrm>
          <a:prstGeom prst="ellipse">
            <a:avLst/>
          </a:prstGeom>
          <a:solidFill>
            <a:srgbClr val="C2603C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685800" y="7315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BF7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1481328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E46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APRESENTAÇÃO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685800" y="3154680"/>
            <a:ext cx="619048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indent="0" marL="0">
              <a:lnSpc>
                <a:spcPct val="120000"/>
              </a:lnSpc>
              <a:spcAft>
                <a:spcPts val="900"/>
              </a:spcAft>
              <a:buNone/>
            </a:pPr>
            <a:r>
              <a:rPr lang="en-US" sz="1200" dirty="0">
                <a:solidFill>
                  <a:srgbClr val="2A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Produto Educacional é o resultado da investigação, elaboração e aplicação de um objeto de aprendizagem que pretende atender uma demanda educacional em um determinado espaço profissional. Alinhado ao Regulamento Geral do Programa de Pós-Graduação em Educação Profissional e Tecnológica em Rede Nacional (ProfEPT) e à Área de Ensino, o Produto Educacional aqui apresentado denomina-se Evento Organizado (PTT5). Evento organizado define-se pelo “produto da atividade de divulgação e/ou propagação do conhecimento técnico-científico pelo Programa de Pós-Graduação para público acadêmico ou geral por meio de atividades formalmente concebidas” (CAPES, 2019, p. 48). Compõe-se de um encontro presencial com características metodológicas de uma Roda de Conversa.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85800" y="5394960"/>
            <a:ext cx="6190488" cy="457200"/>
          </a:xfrm>
          <a:prstGeom prst="roundRect">
            <a:avLst>
              <a:gd name="adj" fmla="val 50000"/>
            </a:avLst>
          </a:prstGeom>
          <a:solidFill>
            <a:srgbClr val="C2603C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685800" y="5394960"/>
            <a:ext cx="6190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50" kern="0" dirty="0">
                <a:solidFill>
                  <a:srgbClr val="FBF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 É UMA VERSÃO ILUSTRATIVA DO PRODUTO EDUCACIONAL</a:t>
            </a:r>
            <a:endParaRPr lang="en-US" sz="1150" dirty="0"/>
          </a:p>
        </p:txBody>
      </p:sp>
      <p:sp>
        <p:nvSpPr>
          <p:cNvPr id="13" name="Text 10"/>
          <p:cNvSpPr txBox="1"/>
          <p:nvPr/>
        </p:nvSpPr>
        <p:spPr>
          <a:xfrm>
            <a:off x="685800" y="6035040"/>
            <a:ext cx="6190488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indent="0" marL="0">
              <a:lnSpc>
                <a:spcPct val="120000"/>
              </a:lnSpc>
              <a:spcAft>
                <a:spcPts val="900"/>
              </a:spcAft>
              <a:buNone/>
            </a:pPr>
            <a:r>
              <a:rPr lang="en-US" sz="1200" dirty="0">
                <a:solidFill>
                  <a:srgbClr val="2A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 conteúdo abrange informações sobre o estudo, pesquisa, produção de dados e o relato da Roda de Conversa, finalizando com as considerações sobre o Produto Educacional. Com o intuito de apresentar o Produto Educacional como uma proposta sistemática a ser integrada ao Centro de Atendimento Socioeducativo Regional, com o objetivo de trabalhar coletivamente temas com os jovens privados de liberdade. Neste caso, a EPT e a Medida Socioeducativa de Internação.</a:t>
            </a:r>
            <a:endParaRPr lang="en-US" sz="1200" dirty="0"/>
          </a:p>
          <a:p>
            <a:pPr algn="just" indent="0" marL="0">
              <a:lnSpc>
                <a:spcPct val="120000"/>
              </a:lnSpc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C26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 2:</a:t>
            </a:r>
            <a:endParaRPr lang="en-US" sz="1200" dirty="0"/>
          </a:p>
          <a:p>
            <a:pPr algn="just" indent="0" marL="0">
              <a:lnSpc>
                <a:spcPct val="120000"/>
              </a:lnSpc>
              <a:spcAft>
                <a:spcPts val="900"/>
              </a:spcAft>
              <a:buNone/>
            </a:pPr>
            <a:r>
              <a:rPr lang="en-US" sz="1200" dirty="0">
                <a:solidFill>
                  <a:srgbClr val="2A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 conteúdo abrange informações sobre a pesquisa, a produção e resultados de dados obtidos e o relato da Roda de Conversa, finalizando com as considerações sobre o Produto Educacional. A fim de apresentar o Produto Educacional como uma proposta sistemática integrada ao Centro de Atendimento Socioeducativo Regional, com o objetivo de trabalhar coletivamente com os jovens privados de liberdade temas como EPT, Trabalho e a Medida Socioeducativa de Internação.</a:t>
            </a:r>
            <a:endParaRPr lang="en-US" sz="1200" dirty="0"/>
          </a:p>
          <a:p>
            <a:pPr algn="just" indent="0" marL="0">
              <a:lnSpc>
                <a:spcPct val="120000"/>
              </a:lnSpc>
              <a:spcAft>
                <a:spcPts val="900"/>
              </a:spcAft>
              <a:buNone/>
            </a:pPr>
            <a:r>
              <a:rPr lang="en-US" sz="1200" dirty="0">
                <a:solidFill>
                  <a:srgbClr val="2A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pesquisa e seu Produto Educacional inserem-se na Linha 1 - Práticas Educativas em Educação Profissional e Tecnológica (EPT), dentro do Macroprojeto 2 - Inclusão e diversidade em espaços formais e não formais de ensino na EPT, de acordo com o Regulamento Geral do ProfEPT (BRASIL, 2023).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4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1012240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6E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PRODUTO EDUCACIONAL  ·  RODA DE CONVERSA</a:t>
            </a:r>
            <a:endParaRPr lang="en-US" sz="750" dirty="0"/>
          </a:p>
        </p:txBody>
      </p:sp>
      <p:sp>
        <p:nvSpPr>
          <p:cNvPr id="3" name="Shape 1"/>
          <p:cNvSpPr/>
          <p:nvPr/>
        </p:nvSpPr>
        <p:spPr>
          <a:xfrm>
            <a:off x="6492240" y="10049256"/>
            <a:ext cx="384048" cy="384048"/>
          </a:xfrm>
          <a:prstGeom prst="ellipse">
            <a:avLst/>
          </a:prstGeom>
          <a:solidFill>
            <a:srgbClr val="1E463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92240" y="100492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BF7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114800" y="-1463040"/>
            <a:ext cx="4572000" cy="4572000"/>
          </a:xfrm>
          <a:prstGeom prst="ellipse">
            <a:avLst/>
          </a:prstGeom>
          <a:solidFill>
            <a:srgbClr val="F6E3BA"/>
          </a:solidFill>
          <a:ln/>
        </p:spPr>
      </p:sp>
      <p:pic>
        <p:nvPicPr>
          <p:cNvPr id="6" name="Image 0" descr="Ilustração decorativ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94760" y="411480"/>
            <a:ext cx="3429000" cy="22860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85800" y="731520"/>
            <a:ext cx="566928" cy="566928"/>
          </a:xfrm>
          <a:prstGeom prst="ellipse">
            <a:avLst/>
          </a:prstGeom>
          <a:solidFill>
            <a:srgbClr val="1E4634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685800" y="7315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BF7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1481328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E46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INTRODUÇÃO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685800" y="3291840"/>
            <a:ext cx="6190488" cy="5303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indent="0" marL="0">
              <a:lnSpc>
                <a:spcPct val="120000"/>
              </a:lnSpc>
              <a:spcAft>
                <a:spcPts val="900"/>
              </a:spcAft>
              <a:buNone/>
            </a:pPr>
            <a:r>
              <a:rPr lang="en-US" sz="1200" dirty="0">
                <a:solidFill>
                  <a:srgbClr val="2A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 assistente social, o que me possibilitou trabalhar no sistema socioeducativo catarinense, atualmente trabalho na área da Educação Profissional e Tecnológica desde 2013, sempre atendendo e tendo contato com adolescentes e jovens, em especial, com os jovens em conflito com a Lei. Neste sentido, minhas inquietações profissionais somaram-se ao fato de acreditar que através da Educação, direito normatizado e potencial transformador de realidades, pode-se abrir caminhos e novas possibilidades, sobretudo quando voltadas às pessoas em situação de vulnerabilidade e em privação de liberdade.</a:t>
            </a:r>
            <a:endParaRPr lang="en-US" sz="1200" dirty="0"/>
          </a:p>
          <a:p>
            <a:pPr algn="just" indent="0" marL="0">
              <a:lnSpc>
                <a:spcPct val="120000"/>
              </a:lnSpc>
              <a:spcAft>
                <a:spcPts val="900"/>
              </a:spcAft>
              <a:buNone/>
            </a:pPr>
            <a:r>
              <a:rPr lang="en-US" sz="1200" dirty="0">
                <a:solidFill>
                  <a:srgbClr val="2A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Diante dessas inquietações, originou-se uma pesquisa na busca por respostas ao problema identificado, que é a análise do processo de implementação da Educação Profissional e Tecnológica no Centro de Atendimento Socioeducativo Regional de São José. O objetivo geral é analisar esse processo, desdobrado em quatro objetivos específicos: identificar o perfil e a trajetória escolar dos jovens; investigar os sentidos atribuídos ao trabalho e à profissionalização; analisar o acesso e a garantia do direito à educação profissional durante a medida; e apresentar o produto educacional desenvolvido, sua aplicação e avaliação.</a:t>
            </a:r>
            <a:endParaRPr lang="en-US" sz="1200" dirty="0"/>
          </a:p>
          <a:p>
            <a:pPr algn="just" indent="0" marL="0">
              <a:lnSpc>
                <a:spcPct val="120000"/>
              </a:lnSpc>
              <a:spcAft>
                <a:spcPts val="900"/>
              </a:spcAft>
              <a:buNone/>
            </a:pPr>
            <a:r>
              <a:rPr lang="en-US" sz="1200" dirty="0">
                <a:solidFill>
                  <a:srgbClr val="2A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 viés crítico, a Educação Profissional e Tecnológica (EPT) articula formação humana, mundo do trabalho e garantia de direitos. Compreendida a partir do trabalho como princípio educativo, não se reduz à preparação para o mercado, mas constitui processo formativo que possibilita aos sujeitos apropriar-se dos conhecimentos historicamente produzidos e compreender criticamente a realidade em que estão inseridos (Saviani, 2007; Frigotto, 2001; Ramos, 2008). Essa concepção ganha contornos particulares quando o direito à educação e à profissionalização precisa ser efetivado em contextos de privação de liberdade e da Socioeducação, como no Centro de Atendimento Socioeducativo.</a:t>
            </a:r>
            <a:endParaRPr lang="en-US" sz="1200" dirty="0"/>
          </a:p>
        </p:txBody>
      </p:sp>
      <p:pic>
        <p:nvPicPr>
          <p:cNvPr id="11" name="Image 1" descr="Folhagem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8641080"/>
            <a:ext cx="384048" cy="129216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371600" y="8732520"/>
            <a:ext cx="55046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i="1" dirty="0">
                <a:solidFill>
                  <a:srgbClr val="C260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“através da Educação, direito normatizado e potencial transformador de realidades, pode-se abrir caminhos e novas possibilidades”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4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1012240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6E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PRODUTO EDUCACIONAL  ·  RODA DE CONVERSA</a:t>
            </a:r>
            <a:endParaRPr lang="en-US" sz="750" dirty="0"/>
          </a:p>
        </p:txBody>
      </p:sp>
      <p:sp>
        <p:nvSpPr>
          <p:cNvPr id="3" name="Shape 1"/>
          <p:cNvSpPr/>
          <p:nvPr/>
        </p:nvSpPr>
        <p:spPr>
          <a:xfrm>
            <a:off x="6492240" y="10049256"/>
            <a:ext cx="384048" cy="384048"/>
          </a:xfrm>
          <a:prstGeom prst="ellipse">
            <a:avLst/>
          </a:prstGeom>
          <a:solidFill>
            <a:srgbClr val="1E463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92240" y="100492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BF7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85800" y="731520"/>
            <a:ext cx="6190488" cy="1600200"/>
          </a:xfrm>
          <a:prstGeom prst="roundRect">
            <a:avLst>
              <a:gd name="adj" fmla="val 10286"/>
            </a:avLst>
          </a:prstGeom>
          <a:solidFill>
            <a:srgbClr val="1E463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685800"/>
            <a:ext cx="731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b="1" dirty="0">
                <a:solidFill>
                  <a:srgbClr val="E2A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</a:t>
            </a:r>
            <a:endParaRPr lang="en-US" sz="7200" dirty="0"/>
          </a:p>
        </p:txBody>
      </p:sp>
      <p:sp>
        <p:nvSpPr>
          <p:cNvPr id="7" name="Text 5"/>
          <p:cNvSpPr txBox="1"/>
          <p:nvPr/>
        </p:nvSpPr>
        <p:spPr>
          <a:xfrm>
            <a:off x="1691640" y="868680"/>
            <a:ext cx="491032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i="1" dirty="0">
                <a:solidFill>
                  <a:srgbClr val="FBF7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receber escolarização e profissionalização</a:t>
            </a:r>
            <a:endParaRPr lang="en-US" sz="2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F6E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(Brasil, 1990, art. 124, XI)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651760"/>
            <a:ext cx="6190488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indent="0" marL="0">
              <a:lnSpc>
                <a:spcPct val="120000"/>
              </a:lnSpc>
              <a:spcAft>
                <a:spcPts val="900"/>
              </a:spcAft>
              <a:buNone/>
            </a:pPr>
            <a:r>
              <a:rPr lang="en-US" sz="1200" dirty="0">
                <a:solidFill>
                  <a:srgbClr val="2A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país, a internação é a medida socioeducativa mais gravosa, por implicar restrição do direito de ir e vir (Brasil, 1990; 2012). Ainda assim, o ordenamento jurídico é explícito quanto à oferta educacional nesses espaços: o Estatuto da Criança e do Adolescente assegura ao adolescente privado de liberdade o direito de "receber escolarização e profissionalização" (Brasil, 1990, art. 124, XI).</a:t>
            </a:r>
            <a:endParaRPr lang="en-US" sz="1200" dirty="0"/>
          </a:p>
          <a:p>
            <a:pPr algn="just" indent="0" marL="0">
              <a:lnSpc>
                <a:spcPct val="120000"/>
              </a:lnSpc>
              <a:spcAft>
                <a:spcPts val="900"/>
              </a:spcAft>
              <a:buNone/>
            </a:pPr>
            <a:r>
              <a:rPr lang="en-US" sz="1200" dirty="0">
                <a:solidFill>
                  <a:srgbClr val="2A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Assim, através das leituras conceituais e científicas, das legislações vigentes, realizou-se o processo acadêmico para a realização da pesquisa empírica, resultando na elaboração e aplicação de um questionário e deste resultou em dados sobre o universo daqueles jovens. Os sujeitos da pesquisa foram dez jovens privados de liberdade, do sexo masculino, com idades entre 15 e 21 anos incompletos, matriculados na EJA, correspondendo o total de 33% do universo do Centro. O Centro de Atendimento Socioeducativo Regional de São José caracteriza-se como uma unidade socioeducativa de internação, localizada na Região Metropolitana da Grande Florianópolis/SC e com o nº de 30 vagas para a Internação.</a:t>
            </a:r>
            <a:endParaRPr lang="en-US" sz="1200" dirty="0"/>
          </a:p>
          <a:p>
            <a:pPr algn="just" indent="0" marL="0">
              <a:lnSpc>
                <a:spcPct val="120000"/>
              </a:lnSpc>
              <a:spcAft>
                <a:spcPts val="900"/>
              </a:spcAft>
              <a:buNone/>
            </a:pPr>
            <a:r>
              <a:rPr lang="en-US" sz="1200" dirty="0">
                <a:solidFill>
                  <a:srgbClr val="2A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Foi a partir desse diagnóstico que se definiu o produto educacional, o PTT5, definido como Evento Organizado, através do formato de Roda de Conversa e, concebido como evento presencial e coletivo de diálogo que devolvesse aos participantes os resultados da pesquisa e, simultaneamente, cumprisse função formativa.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65251" y="7543800"/>
            <a:ext cx="1188720" cy="1188720"/>
          </a:xfrm>
          <a:prstGeom prst="ellipse">
            <a:avLst/>
          </a:prstGeom>
          <a:solidFill>
            <a:srgbClr val="C2603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65251" y="754380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BF7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8823960"/>
            <a:ext cx="145618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jovens privados de liberdade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412873" y="7543800"/>
            <a:ext cx="1188720" cy="1188720"/>
          </a:xfrm>
          <a:prstGeom prst="ellipse">
            <a:avLst/>
          </a:prstGeom>
          <a:solidFill>
            <a:srgbClr val="E2A63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2412873" y="754380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BF7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15–21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2279142" y="8823960"/>
            <a:ext cx="145618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anos incompletos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960495" y="7543800"/>
            <a:ext cx="1188720" cy="1188720"/>
          </a:xfrm>
          <a:prstGeom prst="ellipse">
            <a:avLst/>
          </a:prstGeom>
          <a:solidFill>
            <a:srgbClr val="93AE8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3960495" y="754380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BF7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33%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3826764" y="8823960"/>
            <a:ext cx="145618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universo do Centro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508117" y="7543800"/>
            <a:ext cx="1188720" cy="1188720"/>
          </a:xfrm>
          <a:prstGeom prst="ellipse">
            <a:avLst/>
          </a:prstGeom>
          <a:solidFill>
            <a:srgbClr val="2F5D46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508117" y="754380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BF7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</a:t>
            </a:r>
            <a:endParaRPr lang="en-US" sz="2600" dirty="0"/>
          </a:p>
        </p:txBody>
      </p:sp>
      <p:sp>
        <p:nvSpPr>
          <p:cNvPr id="20" name="Text 18"/>
          <p:cNvSpPr txBox="1"/>
          <p:nvPr/>
        </p:nvSpPr>
        <p:spPr>
          <a:xfrm>
            <a:off x="5374386" y="8823960"/>
            <a:ext cx="145618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vagas para a Internação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4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1012240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6E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PRODUTO EDUCACIONAL  ·  RODA DE CONVERSA</a:t>
            </a:r>
            <a:endParaRPr lang="en-US" sz="750" dirty="0"/>
          </a:p>
        </p:txBody>
      </p:sp>
      <p:sp>
        <p:nvSpPr>
          <p:cNvPr id="3" name="Shape 1"/>
          <p:cNvSpPr/>
          <p:nvPr/>
        </p:nvSpPr>
        <p:spPr>
          <a:xfrm>
            <a:off x="6492240" y="10049256"/>
            <a:ext cx="384048" cy="384048"/>
          </a:xfrm>
          <a:prstGeom prst="ellipse">
            <a:avLst/>
          </a:prstGeom>
          <a:solidFill>
            <a:srgbClr val="1E463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92240" y="100492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BF7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114800" y="-1463040"/>
            <a:ext cx="4572000" cy="4572000"/>
          </a:xfrm>
          <a:prstGeom prst="ellipse">
            <a:avLst/>
          </a:prstGeom>
          <a:solidFill>
            <a:srgbClr val="F3D6C7"/>
          </a:solidFill>
          <a:ln/>
        </p:spPr>
      </p:sp>
      <p:pic>
        <p:nvPicPr>
          <p:cNvPr id="6" name="Image 0" descr="Ilustração decorativ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94760" y="411480"/>
            <a:ext cx="3429000" cy="22860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85800" y="731520"/>
            <a:ext cx="566928" cy="566928"/>
          </a:xfrm>
          <a:prstGeom prst="ellipse">
            <a:avLst/>
          </a:prstGeom>
          <a:solidFill>
            <a:srgbClr val="E2A63B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685800" y="7315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BF7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1481328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E46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RODA DE CONVERSA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685800" y="3429000"/>
            <a:ext cx="6190488" cy="6309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indent="0" marL="0">
              <a:lnSpc>
                <a:spcPct val="120000"/>
              </a:lnSpc>
              <a:spcAft>
                <a:spcPts val="900"/>
              </a:spcAft>
              <a:buNone/>
            </a:pPr>
            <a:r>
              <a:rPr lang="en-US" sz="1200" dirty="0">
                <a:solidFill>
                  <a:srgbClr val="2A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produto educacional exigido no mestrado profissional consiste em um objeto de aprendizagem planejado, elaborado e aplicado no contexto de intervenção, apresentando aplicabilidade imediata e classificação vinculada à Área de Ensino (ProfEPT, 2022). Na presente pesquisa, o produto educacional foi desenvolvido como um evento presencial intitulado Roda de Conversa. Essa atividade enquadra-se como Produto Técnico-Tecnológico (PTT5) na categoria de Evento Organizado, a qual abrange iniciativas como ciclos de palestras, feiras, mostras e demais atividades de divulgação científica (CAPES, 2020).</a:t>
            </a:r>
            <a:endParaRPr lang="en-US" sz="1200" dirty="0"/>
          </a:p>
          <a:p>
            <a:pPr algn="just" indent="0" marL="0">
              <a:lnSpc>
                <a:spcPct val="120000"/>
              </a:lnSpc>
              <a:spcAft>
                <a:spcPts val="900"/>
              </a:spcAft>
              <a:buNone/>
            </a:pPr>
            <a:r>
              <a:rPr lang="en-US" sz="1200" dirty="0">
                <a:solidFill>
                  <a:srgbClr val="2A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presente A Educação Profissional e Tecnológica (EPT) caracteriza-se como uma modalidade educacional voltada à formação integral do estudante, visando prepará-lo para o exercício autônomo da cidadania e para a inserção qualificada no mundo do trabalho(INEP, 2021). Sob essa perspectiva conceitual, a formação integral e a omnilateralidade constituem os alicerces teóricos da EPT, orientando o desenvolvimento humano em suas múltiplas dimensões: intelectual, cultural, científica, técnica, social e política.</a:t>
            </a:r>
            <a:endParaRPr lang="en-US" sz="1200" dirty="0"/>
          </a:p>
          <a:p>
            <a:pPr algn="just" indent="0" marL="0">
              <a:lnSpc>
                <a:spcPct val="120000"/>
              </a:lnSpc>
              <a:spcAft>
                <a:spcPts val="900"/>
              </a:spcAft>
              <a:buNone/>
            </a:pPr>
            <a:r>
              <a:rPr lang="en-US" sz="1200" dirty="0">
                <a:solidFill>
                  <a:srgbClr val="2A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literatura especializada, a Roda de Conversa é reconhecida como uma estratégia eficiente para a coleta de dados, o alinhamento de ideias e a discussão de temas emergentes. Por meio de uma dinâmica interativa, essa abordagem favorece a reflexão provocada pelo diálogo e pela troca de perspectivas entre os participantes, sem a exigência de conclusões definitivas (Silva; Bernardes, 2007).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4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1012240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6E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PRODUTO EDUCACIONAL  ·  RODA DE CONVERSA</a:t>
            </a:r>
            <a:endParaRPr lang="en-US" sz="750" dirty="0"/>
          </a:p>
        </p:txBody>
      </p:sp>
      <p:sp>
        <p:nvSpPr>
          <p:cNvPr id="3" name="Shape 1"/>
          <p:cNvSpPr/>
          <p:nvPr/>
        </p:nvSpPr>
        <p:spPr>
          <a:xfrm>
            <a:off x="6492240" y="10049256"/>
            <a:ext cx="384048" cy="384048"/>
          </a:xfrm>
          <a:prstGeom prst="ellipse">
            <a:avLst/>
          </a:prstGeom>
          <a:solidFill>
            <a:srgbClr val="1E463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92240" y="100492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BF7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731520"/>
            <a:ext cx="6190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indent="0" marL="0">
              <a:lnSpc>
                <a:spcPct val="120000"/>
              </a:lnSpc>
              <a:spcAft>
                <a:spcPts val="900"/>
              </a:spcAft>
              <a:buNone/>
            </a:pPr>
            <a:r>
              <a:rPr lang="en-US" sz="1200" dirty="0">
                <a:solidFill>
                  <a:srgbClr val="2A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rodas de conversas são definidas por Moura e Lima (2014, p. 28) da seguinte forma: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85800" y="1234440"/>
            <a:ext cx="6190488" cy="2423160"/>
          </a:xfrm>
          <a:prstGeom prst="roundRect">
            <a:avLst>
              <a:gd name="adj" fmla="val 6792"/>
            </a:avLst>
          </a:prstGeom>
          <a:solidFill>
            <a:srgbClr val="DCE6D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68680" y="1188720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rgbClr val="1E46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</a:t>
            </a:r>
            <a:endParaRPr lang="en-US" sz="6000" dirty="0"/>
          </a:p>
        </p:txBody>
      </p:sp>
      <p:sp>
        <p:nvSpPr>
          <p:cNvPr id="8" name="Text 6"/>
          <p:cNvSpPr txBox="1"/>
          <p:nvPr/>
        </p:nvSpPr>
        <p:spPr>
          <a:xfrm>
            <a:off x="1554480" y="1417320"/>
            <a:ext cx="5001768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 indent="0" marL="0">
              <a:lnSpc>
                <a:spcPct val="110000"/>
              </a:lnSpc>
              <a:buNone/>
            </a:pPr>
            <a:r>
              <a:rPr lang="en-US" sz="1100" i="1" dirty="0">
                <a:solidFill>
                  <a:srgbClr val="1E46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Rodas de Conversa consistem em um método de participação coletiva de debate acerca de determinada temática em que é possível dialogar com os sujeitos, que se expressam e escutam seus pares e a si mesmos por meio do exercício reflexivo. Objetiva, entre outras finalidades, socializar saberes, implementar a troca de experiências, de conversas, de divulgação de conhecimentos entre os envolvidos, na perspectiva de construção e reconstrução de novos conhecimentos sobre a temática proposta.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3931920"/>
            <a:ext cx="6190488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indent="0" marL="0">
              <a:lnSpc>
                <a:spcPct val="120000"/>
              </a:lnSpc>
              <a:spcAft>
                <a:spcPts val="900"/>
              </a:spcAft>
              <a:buNone/>
            </a:pPr>
            <a:r>
              <a:rPr lang="en-US" sz="1200" dirty="0">
                <a:solidFill>
                  <a:srgbClr val="2A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ponto de vista pedagógico, a Roda de Conversa estimula a compreensão crítica da realidade por meio da construção conjunta de significados, em um ambiente pautado pela horizontalidade. Dessa forma, a atividade se consolida como um espaço de diálogo entre sujeitos, no qual todos os participantes dispõem de oportunidades equivalentes para se manifestar e ter suas opiniões acolhidas.</a:t>
            </a:r>
            <a:endParaRPr lang="en-US" sz="1200" dirty="0"/>
          </a:p>
          <a:p>
            <a:pPr algn="just" indent="0" marL="0">
              <a:lnSpc>
                <a:spcPct val="120000"/>
              </a:lnSpc>
              <a:spcAft>
                <a:spcPts val="900"/>
              </a:spcAft>
              <a:buNone/>
            </a:pPr>
            <a:r>
              <a:rPr lang="en-US" sz="1200" dirty="0">
                <a:solidFill>
                  <a:srgbClr val="2A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viés sócio-educativo, a Roda de Conversa presencial foi realizada a partir de um Guia Prático para o seu desenvolvimento, observando que a presença poderia produzir respostas mais efetivas, devido ao formato do Evento e o vínculo estabelecido com os jovens participantes. Faz-se necessário, como diz Paulo Freire, “fazer hoje o possível de hoje, para fazer amanhã o impossível de hoje”.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28600" y="7086600"/>
            <a:ext cx="2377440" cy="2377440"/>
          </a:xfrm>
          <a:prstGeom prst="ellipse">
            <a:avLst/>
          </a:prstGeom>
          <a:solidFill>
            <a:srgbClr val="F6E3BA"/>
          </a:solidFill>
          <a:ln/>
        </p:spPr>
      </p:sp>
      <p:pic>
        <p:nvPicPr>
          <p:cNvPr id="11" name="Image 0" descr="So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7360920"/>
            <a:ext cx="1737360" cy="685156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2697480" y="7315200"/>
            <a:ext cx="4160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900" b="1" i="1" dirty="0">
                <a:solidFill>
                  <a:srgbClr val="1E46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“fazer hoje o possível de hoje, para fazer amanhã o impossível de hoje”</a:t>
            </a:r>
            <a:endParaRPr lang="en-US" sz="19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000" b="1" spc="300" kern="0" dirty="0">
                <a:solidFill>
                  <a:srgbClr val="C26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PAULO FREIRE</a:t>
            </a:r>
            <a:endParaRPr lang="en-US" sz="1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4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1012240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6E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PRODUTO EDUCACIONAL  ·  RODA DE CONVERSA</a:t>
            </a:r>
            <a:endParaRPr lang="en-US" sz="750" dirty="0"/>
          </a:p>
        </p:txBody>
      </p:sp>
      <p:sp>
        <p:nvSpPr>
          <p:cNvPr id="3" name="Shape 1"/>
          <p:cNvSpPr/>
          <p:nvPr/>
        </p:nvSpPr>
        <p:spPr>
          <a:xfrm>
            <a:off x="6492240" y="10049256"/>
            <a:ext cx="384048" cy="384048"/>
          </a:xfrm>
          <a:prstGeom prst="ellipse">
            <a:avLst/>
          </a:prstGeom>
          <a:solidFill>
            <a:srgbClr val="1E463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92240" y="100492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BF7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394960" y="-1188720"/>
            <a:ext cx="2926080" cy="2926080"/>
          </a:xfrm>
          <a:prstGeom prst="ellipse">
            <a:avLst/>
          </a:prstGeom>
          <a:solidFill>
            <a:srgbClr val="DCE6D2"/>
          </a:solidFill>
          <a:ln/>
        </p:spPr>
      </p:sp>
      <p:sp>
        <p:nvSpPr>
          <p:cNvPr id="6" name="Shape 4"/>
          <p:cNvSpPr/>
          <p:nvPr/>
        </p:nvSpPr>
        <p:spPr>
          <a:xfrm>
            <a:off x="6720840" y="-822960"/>
            <a:ext cx="274320" cy="274320"/>
          </a:xfrm>
          <a:prstGeom prst="ellipse">
            <a:avLst/>
          </a:prstGeom>
          <a:solidFill>
            <a:srgbClr val="C2603C"/>
          </a:solidFill>
          <a:ln/>
        </p:spPr>
      </p:sp>
      <p:sp>
        <p:nvSpPr>
          <p:cNvPr id="7" name="Shape 5"/>
          <p:cNvSpPr/>
          <p:nvPr/>
        </p:nvSpPr>
        <p:spPr>
          <a:xfrm>
            <a:off x="7552328" y="-342900"/>
            <a:ext cx="274320" cy="274320"/>
          </a:xfrm>
          <a:prstGeom prst="ellipse">
            <a:avLst/>
          </a:prstGeom>
          <a:solidFill>
            <a:srgbClr val="E2A63B"/>
          </a:solidFill>
          <a:ln/>
        </p:spPr>
      </p:sp>
      <p:sp>
        <p:nvSpPr>
          <p:cNvPr id="8" name="Shape 6"/>
          <p:cNvSpPr/>
          <p:nvPr/>
        </p:nvSpPr>
        <p:spPr>
          <a:xfrm>
            <a:off x="7552328" y="617220"/>
            <a:ext cx="274320" cy="274320"/>
          </a:xfrm>
          <a:prstGeom prst="ellipse">
            <a:avLst/>
          </a:prstGeom>
          <a:solidFill>
            <a:srgbClr val="1E4634"/>
          </a:solidFill>
          <a:ln/>
        </p:spPr>
      </p:sp>
      <p:sp>
        <p:nvSpPr>
          <p:cNvPr id="9" name="Shape 7"/>
          <p:cNvSpPr/>
          <p:nvPr/>
        </p:nvSpPr>
        <p:spPr>
          <a:xfrm>
            <a:off x="6720840" y="1097280"/>
            <a:ext cx="274320" cy="274320"/>
          </a:xfrm>
          <a:prstGeom prst="ellipse">
            <a:avLst/>
          </a:prstGeom>
          <a:solidFill>
            <a:srgbClr val="93AE86"/>
          </a:solidFill>
          <a:ln/>
        </p:spPr>
      </p:sp>
      <p:sp>
        <p:nvSpPr>
          <p:cNvPr id="10" name="Shape 8"/>
          <p:cNvSpPr/>
          <p:nvPr/>
        </p:nvSpPr>
        <p:spPr>
          <a:xfrm>
            <a:off x="5889352" y="617220"/>
            <a:ext cx="274320" cy="274320"/>
          </a:xfrm>
          <a:prstGeom prst="ellipse">
            <a:avLst/>
          </a:prstGeom>
          <a:solidFill>
            <a:srgbClr val="C2603C"/>
          </a:solidFill>
          <a:ln/>
        </p:spPr>
      </p:sp>
      <p:sp>
        <p:nvSpPr>
          <p:cNvPr id="11" name="Shape 9"/>
          <p:cNvSpPr/>
          <p:nvPr/>
        </p:nvSpPr>
        <p:spPr>
          <a:xfrm>
            <a:off x="5889352" y="-342900"/>
            <a:ext cx="274320" cy="274320"/>
          </a:xfrm>
          <a:prstGeom prst="ellipse">
            <a:avLst/>
          </a:prstGeom>
          <a:solidFill>
            <a:srgbClr val="2F5D46"/>
          </a:solidFill>
          <a:ln/>
        </p:spPr>
      </p:sp>
      <p:sp>
        <p:nvSpPr>
          <p:cNvPr id="12" name="Shape 10"/>
          <p:cNvSpPr/>
          <p:nvPr/>
        </p:nvSpPr>
        <p:spPr>
          <a:xfrm>
            <a:off x="685800" y="731520"/>
            <a:ext cx="566928" cy="566928"/>
          </a:xfrm>
          <a:prstGeom prst="ellipse">
            <a:avLst/>
          </a:prstGeom>
          <a:solidFill>
            <a:srgbClr val="2F5D4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85800" y="7315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BF7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1481328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2200" b="1" dirty="0">
                <a:solidFill>
                  <a:srgbClr val="1E46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GUIA PRÁTICO PARA O DESENVOLVIMENTO DA RODA DE CONVERSA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" y="2697480"/>
            <a:ext cx="61904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A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Roda de Conversa foi planejada e organizada em três momentos — abertura, desenvolvimento e término, com roteiro previamente definido.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60120" y="3657600"/>
            <a:ext cx="0" cy="5120640"/>
          </a:xfrm>
          <a:prstGeom prst="line">
            <a:avLst/>
          </a:prstGeom>
          <a:noFill/>
          <a:ln w="25400">
            <a:solidFill>
              <a:srgbClr val="93AE86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685800" y="3383280"/>
            <a:ext cx="548640" cy="548640"/>
          </a:xfrm>
          <a:prstGeom prst="ellipse">
            <a:avLst/>
          </a:prstGeom>
          <a:solidFill>
            <a:srgbClr val="C2603C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85800" y="3383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BF7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1463040" y="3337560"/>
            <a:ext cx="5413248" cy="2788920"/>
          </a:xfrm>
          <a:prstGeom prst="roundRect">
            <a:avLst>
              <a:gd name="adj" fmla="val 3934"/>
            </a:avLst>
          </a:prstGeom>
          <a:solidFill>
            <a:srgbClr val="FBF7EE"/>
          </a:solidFill>
          <a:ln w="12700">
            <a:solidFill>
              <a:srgbClr val="EFE6D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691640" y="34564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C26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ABERTURA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691640" y="3794760"/>
            <a:ext cx="495604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indent="0" marL="0">
              <a:lnSpc>
                <a:spcPct val="1200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2A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abertura previa acolhimento e boas-vindas, apresentação da pesquisadora e da servidora do Programa de Acompanhamento Pós-cumprimento da Medida Socioeducativa de Internação, apresentação dos participantes e combinados sobre tempos de fala e confidencialidade.</a:t>
            </a:r>
            <a:endParaRPr lang="en-US" sz="1050" dirty="0"/>
          </a:p>
          <a:p>
            <a:pPr algn="just" indent="0" marL="0">
              <a:lnSpc>
                <a:spcPct val="1200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2A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Roda de Conversa teve início de maneira informal, com a apresentação dos participantes e o acolhimento de suas formas de expressão, incluindo o uso de gírias e elementos da cultura juvenil. Essa abordagem respeitou o universo sociocultural e as especificidades dos jovens em cumprimento de medida socioeducativa, caracterizados por regras próprias de convivência, pelas vivências periféricas e pela proximidade com a dinâmicas do contexto infracional (frequentemente referido pelos jovens como a cultura da "vida loka").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85800" y="6400800"/>
            <a:ext cx="548640" cy="548640"/>
          </a:xfrm>
          <a:prstGeom prst="ellipse">
            <a:avLst/>
          </a:prstGeom>
          <a:solidFill>
            <a:srgbClr val="E2A63B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85800" y="6400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BF7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1463040" y="6355080"/>
            <a:ext cx="5413248" cy="2057400"/>
          </a:xfrm>
          <a:prstGeom prst="roundRect">
            <a:avLst>
              <a:gd name="adj" fmla="val 5333"/>
            </a:avLst>
          </a:prstGeom>
          <a:solidFill>
            <a:srgbClr val="FBF7EE"/>
          </a:solidFill>
          <a:ln w="12700">
            <a:solidFill>
              <a:srgbClr val="EFE6D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691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E2A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DESENVOLVIMENTO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1691640" y="6812280"/>
            <a:ext cx="495604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indent="0" marL="0">
              <a:lnSpc>
                <a:spcPct val="1200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2A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desenvolvimento articulou dinâmica de quebra-gelo, apresentação dos dados da pesquisa e exibição de vídeo sobre o Programa Jovem Aprendiz. Na dinâmica inicial, os participantes responderam a quatro perguntas indutoras — o que os inspira; o que lhes vem à cabeça quando pensam em escola e estudo; em cursos profissionalizantes; e o que pensam sobre o trabalho —, sintetizadas em uma nuvem de palavras. Em seguida, apresentou-se um quadro sobre áreas do conhecimento acessíveis pelo Ensino Médio e Superior, para ampliar a compreensão dos jovens sobre as possibilidades formativas.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85800" y="8686800"/>
            <a:ext cx="548640" cy="548640"/>
          </a:xfrm>
          <a:prstGeom prst="ellipse">
            <a:avLst/>
          </a:prstGeom>
          <a:solidFill>
            <a:srgbClr val="93AE86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85800" y="8686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BF7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1463040" y="8641080"/>
            <a:ext cx="5413248" cy="868680"/>
          </a:xfrm>
          <a:prstGeom prst="roundRect">
            <a:avLst>
              <a:gd name="adj" fmla="val 12632"/>
            </a:avLst>
          </a:prstGeom>
          <a:solidFill>
            <a:srgbClr val="FBF7EE"/>
          </a:solidFill>
          <a:ln w="12700">
            <a:solidFill>
              <a:srgbClr val="EFE6D3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691640" y="8759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2F5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ENCERRAMENTO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1691640" y="9098280"/>
            <a:ext cx="4956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indent="0" marL="0">
              <a:lnSpc>
                <a:spcPct val="1200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2A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encerramento compreendeu considerações finais, agradecimentos e aplicação do questionário de avaliação do produto educacional..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4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1012240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6E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PRODUTO EDUCACIONAL  ·  RODA DE CONVERSA</a:t>
            </a:r>
            <a:endParaRPr lang="en-US" sz="750" dirty="0"/>
          </a:p>
        </p:txBody>
      </p:sp>
      <p:sp>
        <p:nvSpPr>
          <p:cNvPr id="3" name="Shape 1"/>
          <p:cNvSpPr/>
          <p:nvPr/>
        </p:nvSpPr>
        <p:spPr>
          <a:xfrm>
            <a:off x="6492240" y="10049256"/>
            <a:ext cx="384048" cy="384048"/>
          </a:xfrm>
          <a:prstGeom prst="ellipse">
            <a:avLst/>
          </a:prstGeom>
          <a:solidFill>
            <a:srgbClr val="1E463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92240" y="100492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BF7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85800" y="731520"/>
            <a:ext cx="6190488" cy="1234440"/>
          </a:xfrm>
          <a:prstGeom prst="roundRect">
            <a:avLst>
              <a:gd name="adj" fmla="val 11852"/>
            </a:avLst>
          </a:prstGeom>
          <a:solidFill>
            <a:srgbClr val="1E463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05840" y="822960"/>
            <a:ext cx="55504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i="1" dirty="0">
                <a:solidFill>
                  <a:srgbClr val="FBF7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Roda de Conversa desenvolve a compreensão crítica da realidade pela produção de sentido sobre o que se fala, dentro de um ambiente de relações horizontais. Neste sentido, mantém-se como um encontro entre sujeitos, no qual todos têm igual oportunidade de se expressar e ser ouvido.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240280"/>
            <a:ext cx="61904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46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Quadro 1 — Roteiro e duração das etapas da Roda de Conversa</a:t>
            </a:r>
            <a:endParaRPr lang="en-US" sz="13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651760"/>
          <a:ext cx="6190488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3520440"/>
                <a:gridCol w="1115568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BF7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Etapa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64008" marB="64008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6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BF7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Conteúdo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64008" marB="64008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6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BF7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Duração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64008" marB="64008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634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4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Abertura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64008" marB="64008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6D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A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Apresentação da pesquisadora e da servidora do PROAPS; esclarecimentos sobre tema, objetivos, etapas e dinâmica do diálogo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64008" marB="64008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6D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260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min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64008" marB="64008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6D3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4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Apresentação dos participantes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64008" marB="64008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A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Identificação dos presentes e estabelecimento dos combinados de convivência e fala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64008" marB="64008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F5D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min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64008" marB="64008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E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4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Dinâmica de quebra-gelo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64008" marB="64008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6D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A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Perguntas indutoras sobre inspirações, escola, cursos profissionalizantes e trabalho, com síntese em nuvem de palavras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64008" marB="64008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6D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260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Integrada às etapas seguintes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64008" marB="64008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6D3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4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Apresentação dos dados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64008" marB="64008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A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Síntese dos dados da pesquisa: sexo, idade, família, escolaridade, cursos realizados, áreas de interesse e garantia do direito à profissionalização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64008" marB="64008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F5D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min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64008" marB="64008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EE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4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 Diálogo formativo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64008" marB="64008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6D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A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Discussão sobre escolarização, EPT e acesso ao mundo do trabalho, com apresentação de áreas do conhecimento e exibição de vídeo sobre o Programa Jovem Aprendiz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64008" marB="64008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6D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260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 min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64008" marB="64008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6D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4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 Encerramento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64008" marB="64008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A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Considerações finais, aplicação do questionário de avaliação e agradecimentos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64008" marB="64008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F5D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min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64008" marB="64008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EE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 txBox="1"/>
          <p:nvPr/>
        </p:nvSpPr>
        <p:spPr>
          <a:xfrm>
            <a:off x="685800" y="6720840"/>
            <a:ext cx="6190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E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elaborado pela autora com base no roteiro da Roda de Conversa (2026).</a:t>
            </a:r>
            <a:endParaRPr lang="en-US" sz="850" dirty="0"/>
          </a:p>
        </p:txBody>
      </p:sp>
      <p:pic>
        <p:nvPicPr>
          <p:cNvPr id="10" name="Image 0" descr="Ilustração de cadeiras dispostas em círcul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0" y="7086600"/>
            <a:ext cx="4023360" cy="268224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4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1012240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6E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PRODUTO EDUCACIONAL  ·  RODA DE CONVERSA</a:t>
            </a:r>
            <a:endParaRPr lang="en-US" sz="750" dirty="0"/>
          </a:p>
        </p:txBody>
      </p:sp>
      <p:sp>
        <p:nvSpPr>
          <p:cNvPr id="3" name="Shape 1"/>
          <p:cNvSpPr/>
          <p:nvPr/>
        </p:nvSpPr>
        <p:spPr>
          <a:xfrm>
            <a:off x="6492240" y="10049256"/>
            <a:ext cx="384048" cy="384048"/>
          </a:xfrm>
          <a:prstGeom prst="ellipse">
            <a:avLst/>
          </a:prstGeom>
          <a:solidFill>
            <a:srgbClr val="1E463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92240" y="100492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BF7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120640" y="-1371600"/>
            <a:ext cx="3291840" cy="3291840"/>
          </a:xfrm>
          <a:prstGeom prst="ellipse">
            <a:avLst/>
          </a:prstGeom>
          <a:solidFill>
            <a:srgbClr val="F6E3BA"/>
          </a:solidFill>
          <a:ln/>
        </p:spPr>
      </p:sp>
      <p:pic>
        <p:nvPicPr>
          <p:cNvPr id="6" name="Image 0" descr="Folhage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0840" y="457200"/>
            <a:ext cx="457200" cy="165735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85800" y="731520"/>
            <a:ext cx="566928" cy="566928"/>
          </a:xfrm>
          <a:prstGeom prst="ellipse">
            <a:avLst/>
          </a:prstGeom>
          <a:solidFill>
            <a:srgbClr val="C2603C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685800" y="7315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BF7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1481328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2200" b="1" dirty="0">
                <a:solidFill>
                  <a:srgbClr val="1E46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RODA DE CONVERSA NO CENTRO DE ATENDIMENTO SOCIOEDUCATIVO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1463040" y="3337560"/>
            <a:ext cx="4663440" cy="0"/>
          </a:xfrm>
          <a:prstGeom prst="line">
            <a:avLst/>
          </a:prstGeom>
          <a:noFill/>
          <a:ln w="19050">
            <a:solidFill>
              <a:srgbClr val="1E4634"/>
            </a:solidFill>
            <a:prstDash val="dash"/>
          </a:ln>
        </p:spPr>
      </p:sp>
      <p:sp>
        <p:nvSpPr>
          <p:cNvPr id="11" name="Shape 8"/>
          <p:cNvSpPr/>
          <p:nvPr/>
        </p:nvSpPr>
        <p:spPr>
          <a:xfrm>
            <a:off x="914400" y="2788920"/>
            <a:ext cx="1097280" cy="1097280"/>
          </a:xfrm>
          <a:prstGeom prst="ellipse">
            <a:avLst/>
          </a:prstGeom>
          <a:solidFill>
            <a:srgbClr val="C2603C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914400" y="278892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2400" b="1" dirty="0">
                <a:solidFill>
                  <a:srgbClr val="FBF7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4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1000" b="1" spc="200" kern="0" dirty="0">
                <a:solidFill>
                  <a:srgbClr val="FBF7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AGO</a:t>
            </a:r>
            <a:endParaRPr lang="en-US" sz="2400" dirty="0"/>
          </a:p>
        </p:txBody>
      </p:sp>
      <p:sp>
        <p:nvSpPr>
          <p:cNvPr id="13" name="Text 10"/>
          <p:cNvSpPr txBox="1"/>
          <p:nvPr/>
        </p:nvSpPr>
        <p:spPr>
          <a:xfrm>
            <a:off x="640080" y="39776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jovens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246120" y="2788920"/>
            <a:ext cx="1097280" cy="1097280"/>
          </a:xfrm>
          <a:prstGeom prst="ellipse">
            <a:avLst/>
          </a:prstGeom>
          <a:solidFill>
            <a:srgbClr val="E2A63B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3246120" y="278892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2400" b="1" dirty="0">
                <a:solidFill>
                  <a:srgbClr val="FBF7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</a:t>
            </a:r>
            <a:endParaRPr lang="en-US" sz="24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1000" b="1" spc="200" kern="0" dirty="0">
                <a:solidFill>
                  <a:srgbClr val="FBF7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AGO</a:t>
            </a:r>
            <a:endParaRPr lang="en-US" sz="2400" dirty="0"/>
          </a:p>
        </p:txBody>
      </p:sp>
      <p:sp>
        <p:nvSpPr>
          <p:cNvPr id="16" name="Text 13"/>
          <p:cNvSpPr txBox="1"/>
          <p:nvPr/>
        </p:nvSpPr>
        <p:spPr>
          <a:xfrm>
            <a:off x="2971800" y="39776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jovens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5577840" y="2788920"/>
            <a:ext cx="1097280" cy="1097280"/>
          </a:xfrm>
          <a:prstGeom prst="ellipse">
            <a:avLst/>
          </a:prstGeom>
          <a:solidFill>
            <a:srgbClr val="93AE86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5577840" y="278892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2400" b="1" dirty="0">
                <a:solidFill>
                  <a:srgbClr val="FBF7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4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1000" b="1" spc="200" kern="0" dirty="0">
                <a:solidFill>
                  <a:srgbClr val="FBF7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</a:t>
            </a:r>
            <a:endParaRPr lang="en-US" sz="24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0" y="39776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jovens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685800" y="4572000"/>
            <a:ext cx="619048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indent="0" marL="0">
              <a:lnSpc>
                <a:spcPct val="120000"/>
              </a:lnSpc>
              <a:spcAft>
                <a:spcPts val="900"/>
              </a:spcAft>
              <a:buNone/>
            </a:pPr>
            <a:r>
              <a:rPr lang="en-US" sz="1200" dirty="0">
                <a:solidFill>
                  <a:srgbClr val="2A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Roda de Conversa foi realizada no Centro de Atendimento em três encontros, em 5 e 22 de agosto e 8 de setembro de 2026, agendados pelo Setor Pedagógico e pelo Programa de Acompanhamento Pós-medida, com anuência das Coordenações de Segurança, Pedagógica e Psicossocial. A distribuição dos participantes seguiu as condições institucionais: três jovens no primeiro encontro, quatro no segundo e três no terceiro, totalizando os dez participantes da pesquisa. Quanto às condições de realização, o limite de participantes por encontro, o acompanhamento por servidor e a definição prévia de datas e espaços não são detalhes secundários, mas condicionantes que conformam a natureza do produto e sua replicabilidade, pois um produto destinado a unidades socioeducativas de internação precisa ser compatível com os Protocolos de Segurança, agendamento e estar incluída como atividade autorizada no Cronograma de Atividades Institucional.</a:t>
            </a:r>
            <a:endParaRPr lang="en-US" sz="1200" dirty="0"/>
          </a:p>
        </p:txBody>
      </p:sp>
      <p:pic>
        <p:nvPicPr>
          <p:cNvPr id="21" name="Image 1" descr="Ilustração de cadernos e livro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8840" y="7406640"/>
            <a:ext cx="3291840" cy="219456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4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1012240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6E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PRODUTO EDUCACIONAL  ·  RODA DE CONVERSA</a:t>
            </a:r>
            <a:endParaRPr lang="en-US" sz="750" dirty="0"/>
          </a:p>
        </p:txBody>
      </p:sp>
      <p:sp>
        <p:nvSpPr>
          <p:cNvPr id="3" name="Shape 1"/>
          <p:cNvSpPr/>
          <p:nvPr/>
        </p:nvSpPr>
        <p:spPr>
          <a:xfrm>
            <a:off x="6492240" y="10049256"/>
            <a:ext cx="384048" cy="384048"/>
          </a:xfrm>
          <a:prstGeom prst="ellipse">
            <a:avLst/>
          </a:prstGeom>
          <a:solidFill>
            <a:srgbClr val="1E463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92240" y="100492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BF7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114800" y="-1463040"/>
            <a:ext cx="4572000" cy="4572000"/>
          </a:xfrm>
          <a:prstGeom prst="ellipse">
            <a:avLst/>
          </a:prstGeom>
          <a:solidFill>
            <a:srgbClr val="DCE6D2"/>
          </a:solidFill>
          <a:ln/>
        </p:spPr>
      </p:sp>
      <p:pic>
        <p:nvPicPr>
          <p:cNvPr id="6" name="Image 0" descr="Ilustração decorativ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1920" y="502920"/>
            <a:ext cx="3291840" cy="21945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85800" y="731520"/>
            <a:ext cx="566928" cy="566928"/>
          </a:xfrm>
          <a:prstGeom prst="ellipse">
            <a:avLst/>
          </a:prstGeom>
          <a:solidFill>
            <a:srgbClr val="E2A63B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685800" y="7315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BF7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1481328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E46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AVALIAÇÃO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685800" y="3429000"/>
            <a:ext cx="6190488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indent="0" marL="0">
              <a:lnSpc>
                <a:spcPct val="120000"/>
              </a:lnSpc>
              <a:spcAft>
                <a:spcPts val="900"/>
              </a:spcAft>
              <a:buNone/>
            </a:pPr>
            <a:r>
              <a:rPr lang="en-US" sz="1200" dirty="0">
                <a:solidFill>
                  <a:srgbClr val="2A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avaliação do produto foi realizada ao final dos encontros, por meio de questionário impresso com quatro questões abertas, nas quais os participantes registraram pontos positivos e negativos, sugestões de melhoria e um espaço para opiniões não manifestadas durante o desenvolvimento. As questões referiam-se à importância do diálogo, ao tema abordado e à organização do evento. Os registros da pesquisa indicam que os dez participantes responderam ao questionário de avaliação e que as manifestações foram unânimes quanto à apreciação geral da atividade, com expressões como "foi muito legal" e "foi maneiro e aprendi bastante neste tempo aqui com vocês"; a unanimidade refere-se, portanto, à avaliação geral do evento, e não a cada um dos itens do questionário.</a:t>
            </a:r>
            <a:endParaRPr lang="en-US" sz="1200" dirty="0"/>
          </a:p>
          <a:p>
            <a:pPr algn="just" indent="0" marL="0">
              <a:lnSpc>
                <a:spcPct val="120000"/>
              </a:lnSpc>
              <a:spcAft>
                <a:spcPts val="900"/>
              </a:spcAft>
              <a:buNone/>
            </a:pPr>
            <a:r>
              <a:rPr lang="en-US" sz="1200" dirty="0">
                <a:solidFill>
                  <a:srgbClr val="2A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Quanto a pergunta se a apresentação do conteúdo da Roda de Conversa foi atrativa e utilizou uma linguagem acessível, todos responderam que sim, foi acessível. O jovem 1 respondeu: “Eu gostei muito da interação com a gente, das dicas que deram para gente.”, assim como outros jovens: “Foi bem legal, passou o tempo”, “Sim, porque me deixou feliz”; “Sim, foi pelo fato de o cara sair daqui e ter mais um conhecimento para ter um trampo”. Sobre o aspecto da comunicação horizontal, esta foi atingida, visto que os jovens verbalizaram durante a Oficina e no questionário de avaliação que a atividade foi bem prazerosa.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1463040" y="8275320"/>
            <a:ext cx="4663440" cy="1051560"/>
          </a:xfrm>
          <a:prstGeom prst="wedgeRoundRectCallout">
            <a:avLst/>
          </a:prstGeom>
          <a:solidFill>
            <a:srgbClr val="C2603C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1691640" y="8275320"/>
            <a:ext cx="4206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FBF7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“foi maneiro e aprendi bastante neste tempo aqui com vocês”</a:t>
            </a:r>
            <a:endParaRPr lang="en-US" sz="1500" dirty="0"/>
          </a:p>
        </p:txBody>
      </p:sp>
      <p:pic>
        <p:nvPicPr>
          <p:cNvPr id="13" name="Image 1" descr="Folhagem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7955280"/>
            <a:ext cx="384048" cy="139217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46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1012240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DCE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PRODUTO EDUCACIONAL  ·  RODA DE CONVERSA</a:t>
            </a:r>
            <a:endParaRPr lang="en-US" sz="750" dirty="0"/>
          </a:p>
        </p:txBody>
      </p:sp>
      <p:sp>
        <p:nvSpPr>
          <p:cNvPr id="3" name="Shape 1"/>
          <p:cNvSpPr/>
          <p:nvPr/>
        </p:nvSpPr>
        <p:spPr>
          <a:xfrm>
            <a:off x="6492240" y="10049256"/>
            <a:ext cx="384048" cy="384048"/>
          </a:xfrm>
          <a:prstGeom prst="ellipse">
            <a:avLst/>
          </a:prstGeom>
          <a:solidFill>
            <a:srgbClr val="E2A63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92240" y="100492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46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-1097280" y="-1097280"/>
            <a:ext cx="2743200" cy="2743200"/>
          </a:xfrm>
          <a:prstGeom prst="ellipse">
            <a:avLst/>
          </a:prstGeom>
          <a:solidFill>
            <a:srgbClr val="2F5D46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777240"/>
            <a:ext cx="1600200" cy="1600200"/>
          </a:xfrm>
          <a:prstGeom prst="ellipse">
            <a:avLst/>
          </a:prstGeom>
          <a:solidFill>
            <a:srgbClr val="E2A63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85800" y="777240"/>
            <a:ext cx="16002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E46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80%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2560320" y="777240"/>
            <a:ext cx="431596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indent="0" marL="0">
              <a:lnSpc>
                <a:spcPct val="120000"/>
              </a:lnSpc>
              <a:spcAft>
                <a:spcPts val="900"/>
              </a:spcAft>
              <a:buNone/>
            </a:pPr>
            <a:r>
              <a:rPr lang="en-US" sz="1050" dirty="0">
                <a:solidFill>
                  <a:srgbClr val="FBF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Quanto à pergunta referente à organização da Roda de Conversa e se poderia ser replicada em outra unidade, 80% responderam que “sim, poderia ser feito em outro CASE”; outro jovem respondeu: “Sim, fazer cursos profissionais. E também até então eu pensava que o Jovem aprendiz não tinha nenhum desses auxílios e direitos”.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2697480"/>
            <a:ext cx="619048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indent="0" marL="0">
              <a:lnSpc>
                <a:spcPct val="120000"/>
              </a:lnSpc>
              <a:spcAft>
                <a:spcPts val="900"/>
              </a:spcAft>
              <a:buNone/>
            </a:pPr>
            <a:r>
              <a:rPr lang="en-US" sz="1050" dirty="0">
                <a:solidFill>
                  <a:srgbClr val="FBF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que se refere a pergunta do tema sobre Formação Profissional, todos afirmaram que gostaram do tema. Enfatizado pelos participantes que o tema é interessante: “Gostei bastante, foi bom para gente conversar e aprender muita coisa sobre as possibilidades da gente ser um profissional”; “Sim. Pelo fato das pessoas terem um conhecimento a mais sobre Trampo” e “Sim, foi interessante entender um pouco mais sobre a Educação e para que ela serve”.</a:t>
            </a:r>
            <a:endParaRPr lang="en-US" sz="1050" dirty="0"/>
          </a:p>
          <a:p>
            <a:pPr algn="just" indent="0" marL="0">
              <a:lnSpc>
                <a:spcPct val="120000"/>
              </a:lnSpc>
              <a:spcAft>
                <a:spcPts val="900"/>
              </a:spcAft>
              <a:buNone/>
            </a:pPr>
            <a:r>
              <a:rPr lang="en-US" sz="1050" dirty="0">
                <a:solidFill>
                  <a:srgbClr val="FBF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Quanto à última questão, livre expressão para manifestação de comentários, sugestões ou críticas. Algumas contribuições identificadas abaixo, garantindo o anonimato: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85800" y="5257800"/>
            <a:ext cx="2935224" cy="1600200"/>
          </a:xfrm>
          <a:prstGeom prst="wedgeRoundRectCallout">
            <a:avLst/>
          </a:prstGeom>
          <a:solidFill>
            <a:srgbClr val="FBF7E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86968" y="5367528"/>
            <a:ext cx="2532888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1E46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“Na real foi bem legal. Até porque o cara sair para dialogar e trocar ideia é muito bom.”;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941064" y="5257800"/>
            <a:ext cx="2935224" cy="1600200"/>
          </a:xfrm>
          <a:prstGeom prst="wedgeRoundRectCallout">
            <a:avLst/>
          </a:prstGeom>
          <a:solidFill>
            <a:srgbClr val="C2603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142232" y="5367528"/>
            <a:ext cx="2532888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FBF7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“Esse Encontro hoje foi bom e quero mais aulas deste tipo como a de hoje sobre curso e trabalho”;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85800" y="7360920"/>
            <a:ext cx="2935224" cy="1600200"/>
          </a:xfrm>
          <a:prstGeom prst="wedgeRoundRectCallout">
            <a:avLst/>
          </a:prstGeom>
          <a:solidFill>
            <a:srgbClr val="E2A63B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86968" y="7470648"/>
            <a:ext cx="2532888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1E46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“importantes os cursos, porque vai melhor o currículo do adolescente nos cursos feitos, que a gente faz e é um atributo a mais”;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941064" y="7360920"/>
            <a:ext cx="2935224" cy="1600200"/>
          </a:xfrm>
          <a:prstGeom prst="wedgeRoundRectCallout">
            <a:avLst/>
          </a:prstGeom>
          <a:solidFill>
            <a:srgbClr val="93AE8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142232" y="7470648"/>
            <a:ext cx="2532888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1E46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“muito bom, poderia ter mais momentos e oficinas assim”.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4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1012240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6E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PRODUTO EDUCACIONAL  ·  RODA DE CONVERSA</a:t>
            </a:r>
            <a:endParaRPr lang="en-US" sz="750" dirty="0"/>
          </a:p>
        </p:txBody>
      </p:sp>
      <p:sp>
        <p:nvSpPr>
          <p:cNvPr id="3" name="Shape 1"/>
          <p:cNvSpPr/>
          <p:nvPr/>
        </p:nvSpPr>
        <p:spPr>
          <a:xfrm>
            <a:off x="6492240" y="10049256"/>
            <a:ext cx="384048" cy="384048"/>
          </a:xfrm>
          <a:prstGeom prst="ellipse">
            <a:avLst/>
          </a:prstGeom>
          <a:solidFill>
            <a:srgbClr val="1E463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92240" y="100492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BF7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114800" y="-1463040"/>
            <a:ext cx="4572000" cy="4572000"/>
          </a:xfrm>
          <a:prstGeom prst="ellipse">
            <a:avLst/>
          </a:prstGeom>
          <a:solidFill>
            <a:srgbClr val="F6E3BA"/>
          </a:solidFill>
          <a:ln/>
        </p:spPr>
      </p:sp>
      <p:pic>
        <p:nvPicPr>
          <p:cNvPr id="6" name="Image 0" descr="Ilustração decorativ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94760" y="411480"/>
            <a:ext cx="3429000" cy="22860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85800" y="731520"/>
            <a:ext cx="566928" cy="566928"/>
          </a:xfrm>
          <a:prstGeom prst="ellipse">
            <a:avLst/>
          </a:prstGeom>
          <a:solidFill>
            <a:srgbClr val="1E4634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685800" y="7315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BF7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1481328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E46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CONSIDERAÇÕES FINAIS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685800" y="3429000"/>
            <a:ext cx="619048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indent="0" marL="0">
              <a:lnSpc>
                <a:spcPct val="120000"/>
              </a:lnSpc>
              <a:spcAft>
                <a:spcPts val="900"/>
              </a:spcAft>
              <a:buNone/>
            </a:pPr>
            <a:r>
              <a:rPr lang="en-US" sz="1200" dirty="0">
                <a:solidFill>
                  <a:srgbClr val="2A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Roda de conversa atingiu os objetivos propostos. Em termos de contribuições, a Roda de Conversa desempenha três funções interligadas: a devolutiva da pesquisa, por meio da discussão dos resultados com os próprios participantes; a dimensão formativa, ao orientar os jovens sobre o direito à profissionalização, os itinerários formativos do ensino e as oportunidades de qualificação; e a função institucional, ao gerar um registro sistematizado do perfil e das expectativas dos adolescentes, cuja devolução à gestão da unidade e à equipe socioeducativa é etapa integrante do estudo.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1531620" y="7018020"/>
            <a:ext cx="4498848" cy="0"/>
          </a:xfrm>
          <a:prstGeom prst="line">
            <a:avLst/>
          </a:prstGeom>
          <a:noFill/>
          <a:ln w="19050">
            <a:solidFill>
              <a:srgbClr val="1E4634"/>
            </a:solidFill>
            <a:prstDash val="dash"/>
          </a:ln>
        </p:spPr>
      </p:sp>
      <p:sp>
        <p:nvSpPr>
          <p:cNvPr id="12" name="Shape 9"/>
          <p:cNvSpPr/>
          <p:nvPr/>
        </p:nvSpPr>
        <p:spPr>
          <a:xfrm>
            <a:off x="685800" y="6172200"/>
            <a:ext cx="1691640" cy="1691640"/>
          </a:xfrm>
          <a:prstGeom prst="ellipse">
            <a:avLst/>
          </a:prstGeom>
          <a:solidFill>
            <a:srgbClr val="C2603C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85800" y="6172200"/>
            <a:ext cx="16916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BF7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Devolutiva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BF7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 pesquisa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2935224" y="6172200"/>
            <a:ext cx="1691640" cy="1691640"/>
          </a:xfrm>
          <a:prstGeom prst="ellipse">
            <a:avLst/>
          </a:prstGeom>
          <a:solidFill>
            <a:srgbClr val="E2A63B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2935224" y="6172200"/>
            <a:ext cx="16916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BF7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Dimensão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BF7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formativa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5184648" y="6172200"/>
            <a:ext cx="1691640" cy="1691640"/>
          </a:xfrm>
          <a:prstGeom prst="ellipse">
            <a:avLst/>
          </a:prstGeom>
          <a:solidFill>
            <a:srgbClr val="93AE86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5184648" y="6172200"/>
            <a:ext cx="16916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46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Função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46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institucional</a:t>
            </a:r>
            <a:endParaRPr lang="en-US" sz="1400" dirty="0"/>
          </a:p>
        </p:txBody>
      </p:sp>
      <p:pic>
        <p:nvPicPr>
          <p:cNvPr id="18" name="Image 1" descr="Folhagem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8549640"/>
            <a:ext cx="411480" cy="1384459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4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1012240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6E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PRODUTO EDUCACIONAL  ·  RODA DE CONVERSA</a:t>
            </a:r>
            <a:endParaRPr lang="en-US" sz="750" dirty="0"/>
          </a:p>
        </p:txBody>
      </p:sp>
      <p:sp>
        <p:nvSpPr>
          <p:cNvPr id="3" name="Shape 1"/>
          <p:cNvSpPr/>
          <p:nvPr/>
        </p:nvSpPr>
        <p:spPr>
          <a:xfrm>
            <a:off x="6492240" y="10049256"/>
            <a:ext cx="384048" cy="384048"/>
          </a:xfrm>
          <a:prstGeom prst="ellipse">
            <a:avLst/>
          </a:prstGeom>
          <a:solidFill>
            <a:srgbClr val="1E463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92240" y="100492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BF7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731520"/>
            <a:ext cx="619048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indent="0" marL="0">
              <a:lnSpc>
                <a:spcPct val="120000"/>
              </a:lnSpc>
              <a:spcAft>
                <a:spcPts val="900"/>
              </a:spcAft>
              <a:buNone/>
            </a:pPr>
            <a:r>
              <a:rPr lang="en-US" sz="1200" dirty="0">
                <a:solidFill>
                  <a:srgbClr val="2A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Produto Educacional, enquanto Evento em formato de Roda de Conversa, proporciona desenvolver a compreensão crítica da realidade pela produção de sentido sobre o que se fala, dentro de um ambiente de relações horizontais. Neste sentido, mantém-se como um encontro entre sujeitos, no qual todos têm igual oportunidade de se expressar e ser ouvido. Quanto aos jovens participantes, estes foram unânimes em afirmar que o momento foi “bacana”, “legal” e “deveria ter mais momentos assim”.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85800" y="2743200"/>
            <a:ext cx="6190488" cy="1097280"/>
          </a:xfrm>
          <a:prstGeom prst="roundRect">
            <a:avLst>
              <a:gd name="adj" fmla="val 50000"/>
            </a:avLst>
          </a:prstGeom>
          <a:solidFill>
            <a:srgbClr val="C2603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60120" y="2743200"/>
            <a:ext cx="564184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FBF7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“bacana”  ·  “legal”  ·  “deveria ter mais momentos assim”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4160520"/>
            <a:ext cx="619048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indent="0" marL="0">
              <a:lnSpc>
                <a:spcPct val="120000"/>
              </a:lnSpc>
              <a:spcAft>
                <a:spcPts val="900"/>
              </a:spcAft>
              <a:buNone/>
            </a:pPr>
            <a:r>
              <a:rPr lang="en-US" sz="1200" dirty="0">
                <a:solidFill>
                  <a:srgbClr val="2A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outro lado, cumpre destacar quatro limitações do trabalho: o alcance amostral, restrito aos dez participantes de uma única unidade; a avaliação pautada por reações imediatas, sem aferição das mudanças de percepção no médio prazo; a inexistência de acompanhamento posterior com os egressos, o que fica sob a responsabilidade do Programa de Acompanhamento Pós medida socioeducativa de Internação (o PROAPS); e a dependência direta do contexto e da infraestrutura de cada estabelecimento socioeducativo. Entretanto, os resultados indicam que o produto educacional apresenta potencial de replicabilidade em contextos similares, desde que respeitadas as adequações ao porte e às diretrizes de segurança da unidade.</a:t>
            </a:r>
            <a:endParaRPr lang="en-US" sz="1200" dirty="0"/>
          </a:p>
        </p:txBody>
      </p:sp>
      <p:pic>
        <p:nvPicPr>
          <p:cNvPr id="9" name="Image 0" descr="Ilustração de dois jovens caminhando por uma estrad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1640" y="6812280"/>
            <a:ext cx="4206240" cy="280416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4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1012240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6E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PRODUTO EDUCACIONAL  ·  RODA DE CONVERSA</a:t>
            </a:r>
            <a:endParaRPr lang="en-US" sz="750" dirty="0"/>
          </a:p>
        </p:txBody>
      </p:sp>
      <p:sp>
        <p:nvSpPr>
          <p:cNvPr id="3" name="Shape 1"/>
          <p:cNvSpPr/>
          <p:nvPr/>
        </p:nvSpPr>
        <p:spPr>
          <a:xfrm>
            <a:off x="6492240" y="10049256"/>
            <a:ext cx="384048" cy="384048"/>
          </a:xfrm>
          <a:prstGeom prst="ellipse">
            <a:avLst/>
          </a:prstGeom>
          <a:solidFill>
            <a:srgbClr val="1E463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92240" y="100492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BF7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731520"/>
            <a:ext cx="6190488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indent="0" marL="0">
              <a:lnSpc>
                <a:spcPct val="120000"/>
              </a:lnSpc>
              <a:spcAft>
                <a:spcPts val="900"/>
              </a:spcAft>
              <a:buNone/>
            </a:pPr>
            <a:r>
              <a:rPr lang="en-US" sz="1200" dirty="0">
                <a:solidFill>
                  <a:srgbClr val="2A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Produto Educacional foi fundamental para contribuir com o desenvolvimento pessoal dos jovens participantes, visto que é uma proposta sócio-educativa de diálogo. Quiçá, que haja o fortalecimento institucional nas unidades socioeducativas, quanto a realização de mais atividades coletivas, como as Rodas de Conversa, de forma sistemática e institucionalizada, sem o prejuízo aos jovens que cumprem a medida socioeducativa de internação.</a:t>
            </a:r>
            <a:endParaRPr lang="en-US" sz="1200" dirty="0"/>
          </a:p>
          <a:p>
            <a:pPr algn="just" indent="0" marL="0">
              <a:lnSpc>
                <a:spcPct val="120000"/>
              </a:lnSpc>
              <a:spcAft>
                <a:spcPts val="900"/>
              </a:spcAft>
              <a:buNone/>
            </a:pPr>
            <a:r>
              <a:rPr lang="en-US" sz="1200" dirty="0">
                <a:solidFill>
                  <a:srgbClr val="2A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 sentido, é importante que a devolutiva dos resultados da pesquisa, e da avaliação do Produto Educacional sejam publicizados através de informes aos atores envolvidos neste Centro de Atendimento Socioeducativo e alcance toda a comunidade socioeducativa, para a garantia dos direitos à Educação Profissional e Tecnológica e de formação profissional contínua, proporcionando a construção de um itinerário educacional, que vise a formação integral desses jovens e à garantia do direito à Profissionalização, conforme preconizado no ECA e no SINASE.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463040" y="5440680"/>
            <a:ext cx="4663440" cy="4663440"/>
          </a:xfrm>
          <a:prstGeom prst="ellipse">
            <a:avLst/>
          </a:prstGeom>
          <a:solidFill>
            <a:srgbClr val="DCE6D2"/>
          </a:solidFill>
          <a:ln/>
        </p:spPr>
      </p:sp>
      <p:pic>
        <p:nvPicPr>
          <p:cNvPr id="7" name="Image 0" descr="Ilustração de jovens e educadoras sentados em roda de convers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5806440"/>
            <a:ext cx="5394960" cy="359664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4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1012240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6E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PRODUTO EDUCACIONAL  ·  RODA DE CONVERSA</a:t>
            </a:r>
            <a:endParaRPr lang="en-US" sz="750" dirty="0"/>
          </a:p>
        </p:txBody>
      </p:sp>
      <p:sp>
        <p:nvSpPr>
          <p:cNvPr id="3" name="Shape 1"/>
          <p:cNvSpPr/>
          <p:nvPr/>
        </p:nvSpPr>
        <p:spPr>
          <a:xfrm>
            <a:off x="6492240" y="10049256"/>
            <a:ext cx="384048" cy="384048"/>
          </a:xfrm>
          <a:prstGeom prst="ellipse">
            <a:avLst/>
          </a:prstGeom>
          <a:solidFill>
            <a:srgbClr val="1E463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92240" y="100492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BF7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577840" y="-1097280"/>
            <a:ext cx="2468880" cy="2468880"/>
          </a:xfrm>
          <a:prstGeom prst="ellipse">
            <a:avLst/>
          </a:prstGeom>
          <a:solidFill>
            <a:srgbClr val="F3D6C7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731520"/>
            <a:ext cx="566928" cy="566928"/>
          </a:xfrm>
          <a:prstGeom prst="ellipse">
            <a:avLst/>
          </a:prstGeom>
          <a:solidFill>
            <a:srgbClr val="C2603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85800" y="7315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BF7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481328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E46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REFERÊNCIAS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2194560"/>
            <a:ext cx="6190488" cy="7589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050" dirty="0">
                <a:solidFill>
                  <a:srgbClr val="2A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BRASIL. </a:t>
            </a:r>
            <a:pPr algn="l" indent="0" marL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050" b="1" dirty="0">
                <a:solidFill>
                  <a:srgbClr val="2A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 nº 8.069, de 13 de julho de 1990.</a:t>
            </a:r>
            <a:pPr algn="l" indent="0" marL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050" dirty="0">
                <a:solidFill>
                  <a:srgbClr val="2A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Dispõe sobre o Estatuto da Criança e do Adolescente e dá outras providências. Brasília, DF: Presidência da República, 1990.</a:t>
            </a:r>
            <a:endParaRPr lang="en-US" sz="1050" dirty="0"/>
          </a:p>
          <a:p>
            <a:pPr algn="l" indent="0" marL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050" dirty="0">
                <a:solidFill>
                  <a:srgbClr val="2A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BRASIL. </a:t>
            </a:r>
            <a:pPr algn="l" indent="0" marL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050" b="1" dirty="0">
                <a:solidFill>
                  <a:srgbClr val="2A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 nº 9.394, de 20 de dezembro de 1996. </a:t>
            </a:r>
            <a:pPr algn="l" indent="0" marL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050" dirty="0">
                <a:solidFill>
                  <a:srgbClr val="2A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Estabelece as diretrizes e bases da educação nacional. Brasília, DF: Presidência da República, 1996.</a:t>
            </a:r>
            <a:endParaRPr lang="en-US" sz="1050" dirty="0"/>
          </a:p>
          <a:p>
            <a:pPr algn="l" indent="0" marL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050" dirty="0">
                <a:solidFill>
                  <a:srgbClr val="2A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BRASIL. </a:t>
            </a:r>
            <a:pPr algn="l" indent="0" marL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050" b="1" dirty="0">
                <a:solidFill>
                  <a:srgbClr val="2A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Resolução CONANDA nº 119, de 11 de dezembro de 2006. </a:t>
            </a:r>
            <a:pPr algn="l" indent="0" marL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050" dirty="0">
                <a:solidFill>
                  <a:srgbClr val="2A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Dispõe sobre o Sistema Nacional de Atendimento Socioeducativo e dá outras providências. Brasília, DF: CONANDA, 2006.</a:t>
            </a:r>
            <a:endParaRPr lang="en-US" sz="1050" dirty="0"/>
          </a:p>
          <a:p>
            <a:pPr algn="l" indent="0" marL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050" dirty="0">
                <a:solidFill>
                  <a:srgbClr val="2A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BRASIL. </a:t>
            </a:r>
            <a:pPr algn="l" indent="0" marL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050" b="1" dirty="0">
                <a:solidFill>
                  <a:srgbClr val="2A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 nº 12.594, de 18 de janeiro de 2012. </a:t>
            </a:r>
            <a:pPr algn="l" indent="0" marL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050" dirty="0">
                <a:solidFill>
                  <a:srgbClr val="2A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Institui o Sistema Nacional de Atendimento Socioeducativo (Sinase). Brasília, DF: Presidência da República, 2012.</a:t>
            </a:r>
            <a:endParaRPr lang="en-US" sz="1050" dirty="0"/>
          </a:p>
          <a:p>
            <a:pPr algn="l" indent="0" marL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050" dirty="0">
                <a:solidFill>
                  <a:srgbClr val="2A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BRASIL. </a:t>
            </a:r>
            <a:pPr algn="l" indent="0" marL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050" b="1" dirty="0">
                <a:solidFill>
                  <a:srgbClr val="2A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 nº 12.852, de 5 de agosto de 2013.</a:t>
            </a:r>
            <a:pPr algn="l" indent="0" marL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050" dirty="0">
                <a:solidFill>
                  <a:srgbClr val="2A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Institui o Estatuto da Juventude e dispõe sobre os direitos dos jovens. Brasília, DF: Presidência da República, 2013.</a:t>
            </a:r>
            <a:endParaRPr lang="en-US" sz="1050" dirty="0"/>
          </a:p>
          <a:p>
            <a:pPr algn="l" indent="0" marL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050" dirty="0">
                <a:solidFill>
                  <a:srgbClr val="2A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BRASIL. Ministério dos Direitos Humanos e da Cidadania. Secretaria Nacional dos Direitos da Criança e do Adolescente. </a:t>
            </a:r>
            <a:pPr algn="l" indent="0" marL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050" b="1" dirty="0">
                <a:solidFill>
                  <a:srgbClr val="2A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Levantamento Nacional do SINASE – 2025.</a:t>
            </a:r>
            <a:pPr algn="l" indent="0" marL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050" dirty="0">
                <a:solidFill>
                  <a:srgbClr val="2A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Brasília, DF: MDHC, 2026. Disponível em: https://www.gov.br/mdh/pt-br/navegue-por-temas/crianca-e-adolescente/levantamentos-nacionais-do-sinase/levantamento_nacional_sinase_2025_defeso_eleitoral_2026.pdf. Acesso em: 12 out. 2026.</a:t>
            </a:r>
            <a:endParaRPr lang="en-US" sz="1050" dirty="0"/>
          </a:p>
          <a:p>
            <a:pPr algn="l" indent="0" marL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050" dirty="0">
                <a:solidFill>
                  <a:srgbClr val="2A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BRASIL. CAPES. Coordenação de Aperfeiçoamento de Pessoal de Nível Superior. </a:t>
            </a:r>
            <a:pPr algn="l" indent="0" marL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050" b="1" dirty="0">
                <a:solidFill>
                  <a:srgbClr val="2A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Orientações quanto ao registro de resultados e produções intelectuais: produtos técnico-tecnológicos na Ficha de Avaliação da Área de Ensino. </a:t>
            </a:r>
            <a:pPr algn="l" indent="0" marL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050" dirty="0">
                <a:solidFill>
                  <a:srgbClr val="2A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Brasília, DF: CAPES, 2020. Disponível em: https://www.gov.br/capes/pt-br/centrais-de-conteudo/ORIENTACOES_REGISTRO_PRODUCAO_TECNICA_TECNOLOGICA_ENSINO.pdf. Acesso em: 12 out. 2026.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4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1012240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6E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PRODUTO EDUCACIONAL  ·  RODA DE CONVERSA</a:t>
            </a:r>
            <a:endParaRPr lang="en-US" sz="750" dirty="0"/>
          </a:p>
        </p:txBody>
      </p:sp>
      <p:sp>
        <p:nvSpPr>
          <p:cNvPr id="3" name="Shape 1"/>
          <p:cNvSpPr/>
          <p:nvPr/>
        </p:nvSpPr>
        <p:spPr>
          <a:xfrm>
            <a:off x="6492240" y="10049256"/>
            <a:ext cx="384048" cy="384048"/>
          </a:xfrm>
          <a:prstGeom prst="ellipse">
            <a:avLst/>
          </a:prstGeom>
          <a:solidFill>
            <a:srgbClr val="1E463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92240" y="100492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BF7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731520"/>
            <a:ext cx="6190488" cy="9052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050" dirty="0">
                <a:solidFill>
                  <a:srgbClr val="2A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FRIGOTTO, Gaudêncio. </a:t>
            </a:r>
            <a:pPr algn="l" indent="0" marL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050" b="1" dirty="0">
                <a:solidFill>
                  <a:srgbClr val="2A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Educação e trabalho: bases para debater a educação profissional emancipadora.</a:t>
            </a:r>
            <a:pPr algn="l" indent="0" marL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050" dirty="0">
                <a:solidFill>
                  <a:srgbClr val="2A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Perspectiva, Florianópolis, v. 19, n. 1, p. 71-87, 2001.</a:t>
            </a:r>
            <a:endParaRPr lang="en-US" sz="1050" dirty="0"/>
          </a:p>
          <a:p>
            <a:pPr algn="l" indent="0" marL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050" dirty="0">
                <a:solidFill>
                  <a:srgbClr val="2A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GIL, Antonio Carlos. </a:t>
            </a:r>
            <a:pPr algn="l" indent="0" marL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050" b="1" dirty="0">
                <a:solidFill>
                  <a:srgbClr val="2A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elaborar projetos de pesquisa.</a:t>
            </a:r>
            <a:pPr algn="l" indent="0" marL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050" dirty="0">
                <a:solidFill>
                  <a:srgbClr val="2A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6. ed. São Paulo: Atlas, 2021.</a:t>
            </a:r>
            <a:endParaRPr lang="en-US" sz="1050" dirty="0"/>
          </a:p>
          <a:p>
            <a:pPr algn="l" indent="0" marL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050" dirty="0">
                <a:solidFill>
                  <a:srgbClr val="2A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ONOFRE, Elenice Maria Cammarosano. </a:t>
            </a:r>
            <a:pPr algn="l" indent="0" marL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050" b="1" dirty="0">
                <a:solidFill>
                  <a:srgbClr val="2A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Processos educativos em espaços de privação de liberdade.</a:t>
            </a:r>
            <a:pPr algn="l" indent="0" marL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050" dirty="0">
                <a:solidFill>
                  <a:srgbClr val="2A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Revista de Educação PUC-Campinas, Campinas, n. 27, p. 65-74, jul./dez. 2009.</a:t>
            </a:r>
            <a:endParaRPr lang="en-US" sz="1050" dirty="0"/>
          </a:p>
          <a:p>
            <a:pPr algn="l" indent="0" marL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050" dirty="0">
                <a:solidFill>
                  <a:srgbClr val="2A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ONU. Organização das Nações Unidas. </a:t>
            </a:r>
            <a:pPr algn="l" indent="0" marL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050" b="1" dirty="0">
                <a:solidFill>
                  <a:srgbClr val="2A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Regras mínimas das Nações Unidas para a proteção dos jovens privados de liberdade (Regras de Havana).</a:t>
            </a:r>
            <a:pPr algn="l" indent="0" marL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050" dirty="0">
                <a:solidFill>
                  <a:srgbClr val="2A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Resolução 45/113, de 14 de dezembro de 1990.</a:t>
            </a:r>
            <a:endParaRPr lang="en-US" sz="1050" dirty="0"/>
          </a:p>
          <a:p>
            <a:pPr algn="l" indent="0" marL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050" dirty="0">
                <a:solidFill>
                  <a:srgbClr val="2A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BRASIL. PROFEPT. Programa de Pós-Graduação em Educação Profissional e Tecnológica em Rede Nacional. </a:t>
            </a:r>
            <a:pPr algn="l" indent="0" marL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050" b="1" dirty="0">
                <a:solidFill>
                  <a:srgbClr val="2A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Regulamento geral do Programa de Mestrado Profissional em Educação Profissional e Tecnológica em Rede Nacional. </a:t>
            </a:r>
            <a:pPr algn="l" indent="0" marL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050" dirty="0">
                <a:solidFill>
                  <a:srgbClr val="2A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[S. l.]: ProfEPT, 2022. Disponível: https://profept.ifes.edu.br/regulamentoprofept. Acesso em: 12 out. 26.</a:t>
            </a:r>
            <a:endParaRPr lang="en-US" sz="1050" dirty="0"/>
          </a:p>
          <a:p>
            <a:pPr algn="l" indent="0" marL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050" dirty="0">
                <a:solidFill>
                  <a:srgbClr val="2A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RAMOS, Marise Nogueira. Concepção do ensino médio integrado. In: ARAÚJO, Ronaldo Marcos de Lima; TEODORO, Elinilce Guimarães (org.). </a:t>
            </a:r>
            <a:pPr algn="l" indent="0" marL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050" b="1" dirty="0">
                <a:solidFill>
                  <a:srgbClr val="2A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Ensino médio integrado no Brasil: fundamentos, práticas e desafios. </a:t>
            </a:r>
            <a:pPr algn="l" indent="0" marL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050" dirty="0">
                <a:solidFill>
                  <a:srgbClr val="2A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Brasília: MEC/SETEC, 2008.</a:t>
            </a:r>
            <a:endParaRPr lang="en-US" sz="1050" dirty="0"/>
          </a:p>
          <a:p>
            <a:pPr algn="l" indent="0" marL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050" dirty="0">
                <a:solidFill>
                  <a:srgbClr val="2A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SANTA CATARINA. </a:t>
            </a:r>
            <a:pPr algn="l" indent="0" marL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050" b="1" dirty="0">
                <a:solidFill>
                  <a:srgbClr val="2A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Normas complementares para organização e funcionamento do sistema de atendimento socioeducativo. </a:t>
            </a:r>
            <a:pPr algn="l" indent="0" marL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050" dirty="0">
                <a:solidFill>
                  <a:srgbClr val="2A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Florianópolis: DEASE, 2013.</a:t>
            </a:r>
            <a:endParaRPr lang="en-US" sz="1050" dirty="0"/>
          </a:p>
          <a:p>
            <a:pPr algn="l" indent="0" marL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050" dirty="0">
                <a:solidFill>
                  <a:srgbClr val="2A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SANTA CATARINA. </a:t>
            </a:r>
            <a:pPr algn="l" indent="0" marL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050" b="1" dirty="0">
                <a:solidFill>
                  <a:srgbClr val="2A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Decreto nº 1.778, de 2 de março de 2022. </a:t>
            </a:r>
            <a:pPr algn="l" indent="0" marL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050" dirty="0">
                <a:solidFill>
                  <a:srgbClr val="2A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 o Regulamento da Estrutura Organizacional Básica do Departamento de Administração Socioeducativa do Estado de Santa Catarina. Florianópolis, 2022.</a:t>
            </a:r>
            <a:endParaRPr lang="en-US" sz="1050" dirty="0"/>
          </a:p>
          <a:p>
            <a:pPr algn="l" indent="0" marL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050" dirty="0">
                <a:solidFill>
                  <a:srgbClr val="2A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SAVIANI, Dermeval. </a:t>
            </a:r>
            <a:pPr algn="l" indent="0" marL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050" b="1" dirty="0">
                <a:solidFill>
                  <a:srgbClr val="2A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Trabalho e educação: fundamentos ontológicos e históricos. </a:t>
            </a:r>
            <a:pPr algn="l" indent="0" marL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050" dirty="0">
                <a:solidFill>
                  <a:srgbClr val="2A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Revista Brasileira de Educação, [S. l.], v. 12, n. 34, p. 152-180, jan./abr. 2007.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E46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6949440"/>
            <a:ext cx="4754880" cy="4754880"/>
          </a:xfrm>
          <a:prstGeom prst="ellipse">
            <a:avLst/>
          </a:prstGeom>
          <a:solidFill>
            <a:srgbClr val="2F5D46"/>
          </a:solidFill>
          <a:ln/>
        </p:spPr>
      </p:sp>
      <p:sp>
        <p:nvSpPr>
          <p:cNvPr id="3" name="Shape 1"/>
          <p:cNvSpPr/>
          <p:nvPr/>
        </p:nvSpPr>
        <p:spPr>
          <a:xfrm>
            <a:off x="5120640" y="-1280160"/>
            <a:ext cx="3474720" cy="3474720"/>
          </a:xfrm>
          <a:prstGeom prst="ellipse">
            <a:avLst/>
          </a:prstGeom>
          <a:solidFill>
            <a:srgbClr val="C2603C"/>
          </a:solidFill>
          <a:ln/>
        </p:spPr>
      </p:sp>
      <p:sp>
        <p:nvSpPr>
          <p:cNvPr id="4" name="Shape 2"/>
          <p:cNvSpPr/>
          <p:nvPr/>
        </p:nvSpPr>
        <p:spPr>
          <a:xfrm>
            <a:off x="4297680" y="-457200"/>
            <a:ext cx="2194560" cy="2194560"/>
          </a:xfrm>
          <a:prstGeom prst="ellipse">
            <a:avLst/>
          </a:prstGeom>
          <a:ln w="31750">
            <a:solidFill>
              <a:srgbClr val="93AE8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0" y="1463040"/>
            <a:ext cx="822960" cy="822960"/>
          </a:xfrm>
          <a:prstGeom prst="ellipse">
            <a:avLst/>
          </a:prstGeom>
          <a:solidFill>
            <a:srgbClr val="E2A63B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514600"/>
            <a:ext cx="365760" cy="365760"/>
          </a:xfrm>
          <a:prstGeom prst="ellipse">
            <a:avLst/>
          </a:prstGeom>
          <a:solidFill>
            <a:srgbClr val="93AE86"/>
          </a:solidFill>
          <a:ln/>
        </p:spPr>
      </p:sp>
      <p:sp>
        <p:nvSpPr>
          <p:cNvPr id="7" name="Shape 5"/>
          <p:cNvSpPr/>
          <p:nvPr/>
        </p:nvSpPr>
        <p:spPr>
          <a:xfrm>
            <a:off x="3589020" y="3374136"/>
            <a:ext cx="384048" cy="384048"/>
          </a:xfrm>
          <a:prstGeom prst="ellipse">
            <a:avLst/>
          </a:prstGeom>
          <a:solidFill>
            <a:srgbClr val="C2603C"/>
          </a:solidFill>
          <a:ln/>
        </p:spPr>
      </p:sp>
      <p:sp>
        <p:nvSpPr>
          <p:cNvPr id="8" name="Shape 6"/>
          <p:cNvSpPr/>
          <p:nvPr/>
        </p:nvSpPr>
        <p:spPr>
          <a:xfrm>
            <a:off x="4688203" y="3829433"/>
            <a:ext cx="384048" cy="384048"/>
          </a:xfrm>
          <a:prstGeom prst="ellipse">
            <a:avLst/>
          </a:prstGeom>
          <a:solidFill>
            <a:srgbClr val="E2A63B"/>
          </a:solidFill>
          <a:ln/>
        </p:spPr>
      </p:sp>
      <p:sp>
        <p:nvSpPr>
          <p:cNvPr id="9" name="Shape 7"/>
          <p:cNvSpPr/>
          <p:nvPr/>
        </p:nvSpPr>
        <p:spPr>
          <a:xfrm>
            <a:off x="5143500" y="4928616"/>
            <a:ext cx="384048" cy="384048"/>
          </a:xfrm>
          <a:prstGeom prst="ellipse">
            <a:avLst/>
          </a:prstGeom>
          <a:solidFill>
            <a:srgbClr val="93AE86"/>
          </a:solidFill>
          <a:ln/>
        </p:spPr>
      </p:sp>
      <p:sp>
        <p:nvSpPr>
          <p:cNvPr id="10" name="Shape 8"/>
          <p:cNvSpPr/>
          <p:nvPr/>
        </p:nvSpPr>
        <p:spPr>
          <a:xfrm>
            <a:off x="4688203" y="6027799"/>
            <a:ext cx="384048" cy="384048"/>
          </a:xfrm>
          <a:prstGeom prst="ellipse">
            <a:avLst/>
          </a:prstGeom>
          <a:solidFill>
            <a:srgbClr val="FBF7EE"/>
          </a:solidFill>
          <a:ln/>
        </p:spPr>
      </p:sp>
      <p:sp>
        <p:nvSpPr>
          <p:cNvPr id="11" name="Shape 9"/>
          <p:cNvSpPr/>
          <p:nvPr/>
        </p:nvSpPr>
        <p:spPr>
          <a:xfrm>
            <a:off x="3589020" y="6483096"/>
            <a:ext cx="384048" cy="384048"/>
          </a:xfrm>
          <a:prstGeom prst="ellipse">
            <a:avLst/>
          </a:prstGeom>
          <a:solidFill>
            <a:srgbClr val="C2603C"/>
          </a:solidFill>
          <a:ln/>
        </p:spPr>
      </p:sp>
      <p:sp>
        <p:nvSpPr>
          <p:cNvPr id="12" name="Shape 10"/>
          <p:cNvSpPr/>
          <p:nvPr/>
        </p:nvSpPr>
        <p:spPr>
          <a:xfrm>
            <a:off x="2489837" y="6027799"/>
            <a:ext cx="384048" cy="384048"/>
          </a:xfrm>
          <a:prstGeom prst="ellipse">
            <a:avLst/>
          </a:prstGeom>
          <a:solidFill>
            <a:srgbClr val="E2A63B"/>
          </a:solidFill>
          <a:ln/>
        </p:spPr>
      </p:sp>
      <p:sp>
        <p:nvSpPr>
          <p:cNvPr id="13" name="Shape 11"/>
          <p:cNvSpPr/>
          <p:nvPr/>
        </p:nvSpPr>
        <p:spPr>
          <a:xfrm>
            <a:off x="2034540" y="4928616"/>
            <a:ext cx="384048" cy="384048"/>
          </a:xfrm>
          <a:prstGeom prst="ellipse">
            <a:avLst/>
          </a:prstGeom>
          <a:solidFill>
            <a:srgbClr val="93AE86"/>
          </a:solidFill>
          <a:ln/>
        </p:spPr>
      </p:sp>
      <p:sp>
        <p:nvSpPr>
          <p:cNvPr id="14" name="Shape 12"/>
          <p:cNvSpPr/>
          <p:nvPr/>
        </p:nvSpPr>
        <p:spPr>
          <a:xfrm>
            <a:off x="2489837" y="3829433"/>
            <a:ext cx="384048" cy="384048"/>
          </a:xfrm>
          <a:prstGeom prst="ellipse">
            <a:avLst/>
          </a:prstGeom>
          <a:solidFill>
            <a:srgbClr val="FBF7EE"/>
          </a:solidFill>
          <a:ln/>
        </p:spPr>
      </p:sp>
      <p:pic>
        <p:nvPicPr>
          <p:cNvPr id="15" name="Image 0" descr="So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66644" y="4892040"/>
            <a:ext cx="1828800" cy="721217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2866644" y="8503920"/>
            <a:ext cx="1828800" cy="1463040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/>
        </p:spPr>
      </p:sp>
      <p:pic>
        <p:nvPicPr>
          <p:cNvPr id="17" name="Image 1" descr="Logotipo ProfEP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8668" y="8622792"/>
            <a:ext cx="1444752" cy="11612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Roda de Conversa">
  <a:themeElements>
    <a:clrScheme name="Roda de Conversa">
      <a:dk1>
        <a:srgbClr val="2A2A26"/>
      </a:dk1>
      <a:lt1>
        <a:srgbClr val="FFFFFF"/>
      </a:lt1>
      <a:dk2>
        <a:srgbClr val="1E4634"/>
      </a:dk2>
      <a:lt2>
        <a:srgbClr val="F8F4EB"/>
      </a:lt2>
      <a:accent1>
        <a:srgbClr val="1E4634"/>
      </a:accent1>
      <a:accent2>
        <a:srgbClr val="C2603C"/>
      </a:accent2>
      <a:accent3>
        <a:srgbClr val="E2A63B"/>
      </a:accent3>
      <a:accent4>
        <a:srgbClr val="93AE86"/>
      </a:accent4>
      <a:accent5>
        <a:srgbClr val="2F5D46"/>
      </a:accent5>
      <a:accent6>
        <a:srgbClr val="6E6A60"/>
      </a:accent6>
      <a:hlink>
        <a:srgbClr val="C2603C"/>
      </a:hlink>
      <a:folHlink>
        <a:srgbClr val="2F5D46"/>
      </a:folHlink>
    </a:clrScheme>
    <a:fontScheme name="Roda de Conversa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Produto Educacional — Roda de Conversa</dc:title>
  <dc:subject>PptxGenJS Presentation</dc:subject>
  <dc:creator>Marilúcia Tamanini Schauffert</dc:creator>
  <cp:lastModifiedBy>Marilúcia Tamanini Schauffert</cp:lastModifiedBy>
  <cp:revision>1</cp:revision>
  <dcterms:created xsi:type="dcterms:W3CDTF">2026-10-16T00:41:14Z</dcterms:created>
  <dcterms:modified xsi:type="dcterms:W3CDTF">2026-10-16T00:41:14Z</dcterms:modified>
</cp:coreProperties>
</file>